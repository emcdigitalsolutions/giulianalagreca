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303520" y="1097280"/>
            <a:ext cx="1554480" cy="1554480"/>
          </a:xfrm>
          <a:prstGeom prst="ellipse">
            <a:avLst/>
          </a:prstGeom>
          <a:solidFill>
            <a:srgbClr val="1A1A1A"/>
          </a:solidFill>
          <a:ln w="381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0"/>
              </a:spcBef>
              <a:defRPr sz="4000" b="1">
                <a:solidFill>
                  <a:srgbClr val="C9A84C"/>
                </a:solidFill>
                <a:latin typeface="Georgia"/>
              </a:defRPr>
            </a:pPr>
            <a:r>
              <a:t>GL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9A84C"/>
                </a:solidFill>
                <a:latin typeface="Calibri"/>
              </a:defRPr>
            </a:pPr>
            <a:r>
              <a:t>PROPOSTA COMMERCIALE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0ECE2"/>
                </a:solidFill>
                <a:latin typeface="Georgia"/>
              </a:defRPr>
            </a:pPr>
            <a:r>
              <a:t>Realizzazione Sito Web Professionale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389120"/>
            <a:ext cx="21332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D4AF37"/>
                </a:solidFill>
                <a:latin typeface="Georgia"/>
              </a:defRPr>
            </a:pPr>
            <a:r>
              <a:t>Giuliana &amp; La Greca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998A"/>
                </a:solidFill>
                <a:latin typeface="Calibri"/>
              </a:defRPr>
            </a:pPr>
            <a:r>
              <a:t>Agenzia Onoranze Funebri  •  Campobello di Licata (AG)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998A"/>
                </a:solidFill>
                <a:latin typeface="Calibri"/>
              </a:defRPr>
            </a:pPr>
            <a:r>
              <a:t>A cura di: Enrico Maria Caruso  •  Full Stack Developer &amp; Web Designer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66560"/>
            <a:ext cx="12191695" cy="50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t>IL VOSTRO NUOVO SITO WEB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82676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ECE2"/>
                </a:solidFill>
                <a:latin typeface="Georgia"/>
              </a:defRPr>
            </a:pPr>
            <a:r>
              <a:rPr dirty="0"/>
              <a:t>Un </a:t>
            </a:r>
            <a:r>
              <a:rPr dirty="0" err="1"/>
              <a:t>sito</a:t>
            </a:r>
            <a:r>
              <a:rPr dirty="0"/>
              <a:t> </a:t>
            </a:r>
            <a:r>
              <a:rPr dirty="0" err="1"/>
              <a:t>professionale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misura</a:t>
            </a:r>
            <a:r>
              <a:rPr dirty="0"/>
              <a:t> per la </a:t>
            </a:r>
            <a:r>
              <a:rPr dirty="0" err="1"/>
              <a:t>vostra</a:t>
            </a:r>
            <a:r>
              <a:rPr dirty="0"/>
              <a:t> </a:t>
            </a:r>
            <a:r>
              <a:rPr dirty="0" err="1"/>
              <a:t>agenzia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998A"/>
                </a:solidFill>
                <a:latin typeface="Calibri"/>
              </a:defRPr>
            </a:pPr>
            <a:r>
              <a:rPr dirty="0"/>
              <a:t>Il </a:t>
            </a:r>
            <a:r>
              <a:rPr dirty="0" err="1"/>
              <a:t>sito</a:t>
            </a:r>
            <a:r>
              <a:rPr dirty="0"/>
              <a:t> è </a:t>
            </a:r>
            <a:r>
              <a:rPr dirty="0" err="1"/>
              <a:t>stato</a:t>
            </a:r>
            <a:r>
              <a:rPr dirty="0"/>
              <a:t> </a:t>
            </a:r>
            <a:r>
              <a:rPr dirty="0" err="1"/>
              <a:t>progettato</a:t>
            </a:r>
            <a:r>
              <a:rPr dirty="0"/>
              <a:t> da zero, </a:t>
            </a:r>
            <a:r>
              <a:rPr dirty="0" err="1"/>
              <a:t>senza</a:t>
            </a:r>
            <a:r>
              <a:rPr dirty="0"/>
              <a:t> template </a:t>
            </a:r>
            <a:r>
              <a:rPr dirty="0" err="1"/>
              <a:t>predefiniti</a:t>
            </a:r>
            <a:r>
              <a:rPr dirty="0"/>
              <a:t> o </a:t>
            </a:r>
            <a:r>
              <a:rPr dirty="0" err="1"/>
              <a:t>piattaforme</a:t>
            </a:r>
            <a:r>
              <a:rPr dirty="0"/>
              <a:t> CMS come WordPress. </a:t>
            </a:r>
            <a:r>
              <a:rPr dirty="0" err="1"/>
              <a:t>Questo</a:t>
            </a:r>
            <a:r>
              <a:rPr dirty="0"/>
              <a:t> </a:t>
            </a:r>
            <a:r>
              <a:rPr dirty="0" err="1"/>
              <a:t>garantisce</a:t>
            </a:r>
            <a:r>
              <a:rPr dirty="0"/>
              <a:t> </a:t>
            </a:r>
            <a:r>
              <a:rPr dirty="0" err="1"/>
              <a:t>massime</a:t>
            </a:r>
            <a:r>
              <a:rPr dirty="0"/>
              <a:t> </a:t>
            </a:r>
            <a:r>
              <a:rPr dirty="0" err="1"/>
              <a:t>prestazioni</a:t>
            </a:r>
            <a:r>
              <a:rPr dirty="0"/>
              <a:t>, design </a:t>
            </a:r>
            <a:r>
              <a:rPr dirty="0" err="1"/>
              <a:t>esclusivo</a:t>
            </a:r>
            <a:r>
              <a:rPr dirty="0"/>
              <a:t> e </a:t>
            </a:r>
            <a:r>
              <a:rPr dirty="0" err="1"/>
              <a:t>totale</a:t>
            </a:r>
            <a:r>
              <a:rPr dirty="0"/>
              <a:t> </a:t>
            </a:r>
            <a:r>
              <a:rPr dirty="0" err="1" smtClean="0"/>
              <a:t>personalizzazione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2560320" cy="292608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C9A84C"/>
                </a:solidFill>
                <a:latin typeface="Calibri"/>
              </a:defRPr>
            </a:pPr>
            <a:r>
              <a:t>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0ECE2"/>
                </a:solidFill>
                <a:latin typeface="Calibri"/>
              </a:defRPr>
            </a:pPr>
            <a:r>
              <a:t>Design Esclusivo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998A"/>
                </a:solidFill>
                <a:latin typeface="Calibri"/>
              </a:defRPr>
            </a:pPr>
            <a:r>
              <a:t>Tema scuro elegante</a:t>
            </a:r>
            <a:br/>
            <a:r>
              <a:t>con accenti dorati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3200400"/>
            <a:ext cx="2560320" cy="292608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49040" y="3474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C9A84C"/>
                </a:solidFill>
                <a:latin typeface="Calibri"/>
              </a:defRPr>
            </a:pPr>
            <a:r>
              <a:t>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4206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0ECE2"/>
                </a:solidFill>
                <a:latin typeface="Calibri"/>
              </a:defRPr>
            </a:pPr>
            <a:r>
              <a:t>100% Responsive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4754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998A"/>
                </a:solidFill>
                <a:latin typeface="Calibri"/>
              </a:defRPr>
            </a:pPr>
            <a:r>
              <a:t>Perfetto su desktop,</a:t>
            </a:r>
            <a:br/>
            <a:r>
              <a:t>tablet e smartphone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200400"/>
            <a:ext cx="2560320" cy="292608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3474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C9A84C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206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0ECE2"/>
                </a:solidFill>
                <a:latin typeface="Calibri"/>
              </a:defRPr>
            </a:pPr>
            <a:r>
              <a:t>Ultra Veloce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754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998A"/>
                </a:solidFill>
                <a:latin typeface="Calibri"/>
              </a:defRPr>
            </a:pPr>
            <a:r>
              <a:rPr dirty="0" err="1"/>
              <a:t>Caricamento</a:t>
            </a:r>
            <a:r>
              <a:rPr dirty="0"/>
              <a:t> in </a:t>
            </a:r>
            <a:r>
              <a:rPr dirty="0" err="1"/>
              <a:t>meno</a:t>
            </a:r>
            <a:r>
              <a:rPr dirty="0"/>
              <a:t/>
            </a:r>
            <a:br>
              <a:rPr dirty="0"/>
            </a:br>
            <a:r>
              <a:rPr dirty="0"/>
              <a:t>di 1 secondo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3200400"/>
            <a:ext cx="2560320" cy="292608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0" y="3474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C9A84C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4206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0ECE2"/>
                </a:solidFill>
                <a:latin typeface="Calibri"/>
              </a:defRPr>
            </a:pPr>
            <a:r>
              <a:t>GDPR Compliant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47548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998A"/>
                </a:solidFill>
                <a:latin typeface="Calibri"/>
              </a:defRPr>
            </a:pPr>
            <a:r>
              <a:rPr dirty="0"/>
              <a:t>Cookie banner, privacy</a:t>
            </a:r>
            <a:br>
              <a:rPr dirty="0"/>
            </a:br>
            <a:r>
              <a:rPr dirty="0"/>
              <a:t>e cookie policy </a:t>
            </a:r>
            <a:r>
              <a:rPr dirty="0" err="1"/>
              <a:t>inclusi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t>STRUTTURA DEL SITO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ECE2"/>
                </a:solidFill>
                <a:latin typeface="Georgia"/>
              </a:defRPr>
            </a:pPr>
            <a:r>
              <a:rPr dirty="0"/>
              <a:t>Single-page con </a:t>
            </a:r>
            <a:r>
              <a:rPr dirty="0" err="1"/>
              <a:t>navigazione</a:t>
            </a:r>
            <a:r>
              <a:rPr dirty="0"/>
              <a:t> </a:t>
            </a:r>
            <a:r>
              <a:rPr dirty="0" err="1"/>
              <a:t>fluida</a:t>
            </a:r>
            <a:r>
              <a:rPr dirty="0"/>
              <a:t> </a:t>
            </a:r>
            <a:r>
              <a:rPr dirty="0" err="1"/>
              <a:t>tra</a:t>
            </a:r>
            <a:r>
              <a:rPr dirty="0"/>
              <a:t> 7 </a:t>
            </a:r>
            <a:r>
              <a:rPr dirty="0" err="1"/>
              <a:t>sezioni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697480" cy="2103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84C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ECE2"/>
                </a:solidFill>
                <a:latin typeface="Calibri"/>
              </a:defRPr>
            </a:pPr>
            <a:r>
              <a:rPr dirty="0" smtClean="0"/>
              <a:t>HOME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228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98A"/>
                </a:solidFill>
                <a:latin typeface="Calibri"/>
              </a:defRPr>
            </a:pPr>
            <a:r>
              <a:rPr dirty="0"/>
              <a:t>Banner </a:t>
            </a:r>
            <a:r>
              <a:rPr dirty="0" err="1"/>
              <a:t>professionale</a:t>
            </a:r>
            <a:r>
              <a:rPr dirty="0"/>
              <a:t>, logo, </a:t>
            </a:r>
            <a:r>
              <a:rPr dirty="0" err="1" smtClean="0"/>
              <a:t>particelle</a:t>
            </a:r>
            <a:r>
              <a:rPr lang="it-IT" dirty="0" smtClean="0"/>
              <a:t> </a:t>
            </a:r>
            <a:r>
              <a:rPr dirty="0" smtClean="0"/>
              <a:t>decorative </a:t>
            </a:r>
            <a:r>
              <a:rPr dirty="0"/>
              <a:t>animate, badge </a:t>
            </a:r>
            <a:r>
              <a:rPr dirty="0" smtClean="0"/>
              <a:t>24/7,</a:t>
            </a:r>
            <a:r>
              <a:rPr lang="it-IT" dirty="0" smtClean="0"/>
              <a:t> </a:t>
            </a:r>
            <a:r>
              <a:rPr dirty="0" smtClean="0"/>
              <a:t>numeri </a:t>
            </a:r>
            <a:r>
              <a:rPr dirty="0"/>
              <a:t>di </a:t>
            </a:r>
            <a:r>
              <a:rPr dirty="0" err="1"/>
              <a:t>telefono</a:t>
            </a:r>
            <a:r>
              <a:rPr dirty="0"/>
              <a:t> </a:t>
            </a:r>
            <a:r>
              <a:rPr dirty="0" err="1"/>
              <a:t>cliccabili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3337560" y="2011680"/>
            <a:ext cx="2697480" cy="2103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20440" y="2148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84C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ECE2"/>
                </a:solidFill>
                <a:latin typeface="Calibri"/>
              </a:defRPr>
            </a:pPr>
            <a:r>
              <a:t>CHI SIAMO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9718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98A"/>
                </a:solidFill>
                <a:latin typeface="Calibri"/>
              </a:defRPr>
            </a:pPr>
            <a:r>
              <a:t>Presentazione dell'agenzia con</a:t>
            </a:r>
            <a:br/>
            <a:r>
              <a:t>i valori fondanti: Empatia,</a:t>
            </a:r>
            <a:br/>
            <a:r>
              <a:t>Affidabilità, Rispetto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2697480" cy="2103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148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84C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ECE2"/>
                </a:solidFill>
                <a:latin typeface="Calibri"/>
              </a:defRPr>
            </a:pPr>
            <a:r>
              <a:t>SERVIZI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718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98A"/>
                </a:solidFill>
                <a:latin typeface="Calibri"/>
              </a:defRPr>
            </a:pPr>
            <a:r>
              <a:rPr dirty="0"/>
              <a:t>8 card </a:t>
            </a:r>
            <a:r>
              <a:rPr dirty="0" err="1"/>
              <a:t>interattive</a:t>
            </a:r>
            <a:r>
              <a:rPr dirty="0"/>
              <a:t> con </a:t>
            </a:r>
            <a:r>
              <a:rPr dirty="0" err="1"/>
              <a:t>icone</a:t>
            </a:r>
            <a:r>
              <a:rPr dirty="0"/>
              <a:t>:</a:t>
            </a:r>
            <a:br>
              <a:rPr dirty="0"/>
            </a:br>
            <a:r>
              <a:rPr dirty="0" err="1"/>
              <a:t>Pratiche</a:t>
            </a:r>
            <a:r>
              <a:rPr dirty="0"/>
              <a:t>, </a:t>
            </a:r>
            <a:r>
              <a:rPr dirty="0" err="1"/>
              <a:t>Vestizione</a:t>
            </a:r>
            <a:r>
              <a:rPr dirty="0"/>
              <a:t>, </a:t>
            </a:r>
            <a:r>
              <a:rPr dirty="0" err="1"/>
              <a:t>Trasporti</a:t>
            </a:r>
            <a:r>
              <a:rPr dirty="0"/>
              <a:t>,</a:t>
            </a:r>
            <a:br>
              <a:rPr dirty="0"/>
            </a:br>
            <a:r>
              <a:rPr dirty="0"/>
              <a:t>Camera </a:t>
            </a:r>
            <a:r>
              <a:rPr dirty="0" err="1"/>
              <a:t>Ardente</a:t>
            </a:r>
            <a:r>
              <a:rPr dirty="0"/>
              <a:t>, Fotoceramica, </a:t>
            </a:r>
            <a:r>
              <a:rPr dirty="0" err="1"/>
              <a:t>Manifesti</a:t>
            </a:r>
            <a:r>
              <a:rPr dirty="0"/>
              <a:t>...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2011680"/>
            <a:ext cx="2697480" cy="2103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81160" y="2148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84C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ECE2"/>
                </a:solidFill>
                <a:latin typeface="Calibri"/>
              </a:defRPr>
            </a:pPr>
            <a:r>
              <a:t>GALLERIA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9718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98A"/>
                </a:solidFill>
                <a:latin typeface="Calibri"/>
              </a:defRPr>
            </a:pPr>
            <a:r>
              <a:rPr dirty="0"/>
              <a:t>6 </a:t>
            </a:r>
            <a:r>
              <a:rPr dirty="0" err="1"/>
              <a:t>foto</a:t>
            </a:r>
            <a:r>
              <a:rPr dirty="0"/>
              <a:t> </a:t>
            </a:r>
            <a:r>
              <a:rPr dirty="0" err="1"/>
              <a:t>professionali</a:t>
            </a:r>
            <a:r>
              <a:rPr dirty="0"/>
              <a:t> con </a:t>
            </a:r>
            <a:r>
              <a:rPr dirty="0" err="1"/>
              <a:t>lightbox</a:t>
            </a:r>
            <a:r>
              <a:rPr dirty="0"/>
              <a:t/>
            </a:r>
            <a:br>
              <a:rPr dirty="0"/>
            </a:br>
            <a:r>
              <a:rPr dirty="0"/>
              <a:t>carousel, </a:t>
            </a:r>
            <a:r>
              <a:rPr dirty="0" err="1"/>
              <a:t>navigazione</a:t>
            </a:r>
            <a:r>
              <a:rPr dirty="0"/>
              <a:t> </a:t>
            </a:r>
            <a:r>
              <a:rPr dirty="0" err="1"/>
              <a:t>frecce</a:t>
            </a:r>
            <a:r>
              <a:rPr dirty="0"/>
              <a:t>,</a:t>
            </a:r>
            <a:br>
              <a:rPr dirty="0"/>
            </a:br>
            <a:r>
              <a:rPr dirty="0" err="1"/>
              <a:t>tastiera</a:t>
            </a:r>
            <a:r>
              <a:rPr dirty="0"/>
              <a:t> e swipe mobile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389120"/>
            <a:ext cx="2697480" cy="2103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45262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84C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983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ECE2"/>
                </a:solidFill>
                <a:latin typeface="Calibri"/>
              </a:defRPr>
            </a:pPr>
            <a:r>
              <a:t>PERCHÉ SCEGLIERCI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4924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98A"/>
                </a:solidFill>
                <a:latin typeface="Calibri"/>
              </a:defRPr>
            </a:pPr>
            <a:r>
              <a:t>3 punti di forza: Disponibilità</a:t>
            </a:r>
            <a:br/>
            <a:r>
              <a:t>24/7, Esperienza, Vicinanza</a:t>
            </a:r>
            <a:br/>
            <a:r>
              <a:t>e Rispetto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4389120"/>
            <a:ext cx="2697480" cy="2103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20440" y="45262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84C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983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ECE2"/>
                </a:solidFill>
                <a:latin typeface="Calibri"/>
              </a:defRPr>
            </a:pPr>
            <a:r>
              <a:t>CONTATTI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534924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98A"/>
                </a:solidFill>
                <a:latin typeface="Calibri"/>
              </a:defRPr>
            </a:pPr>
            <a:r>
              <a:t>Indirizzo, 4 telefoni cliccabili,</a:t>
            </a:r>
            <a:br/>
            <a:r>
              <a:t>email, form con validazione,</a:t>
            </a:r>
            <a:br/>
            <a:r>
              <a:t>Google Maps interattiva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389120"/>
            <a:ext cx="2697480" cy="2103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45262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9A84C"/>
                </a:solidFill>
                <a:latin typeface="Georgia"/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983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ECE2"/>
                </a:solidFill>
                <a:latin typeface="Calibri"/>
              </a:defRPr>
            </a:pPr>
            <a:r>
              <a:t>FOOTER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34924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998A"/>
                </a:solidFill>
                <a:latin typeface="Calibri"/>
              </a:defRPr>
            </a:pPr>
            <a:r>
              <a:t>Dati aziendali, link utili,</a:t>
            </a:r>
            <a:br/>
            <a:r>
              <a:t>recapiti, social, privacy</a:t>
            </a:r>
            <a:br/>
            <a:r>
              <a:t>e cookie policy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981" y="838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rPr dirty="0"/>
              <a:t>MOCKUP: HERO SECTION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86287" y="498877"/>
            <a:ext cx="18288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9448495" cy="5029200"/>
          </a:xfrm>
          <a:prstGeom prst="roundRect">
            <a:avLst/>
          </a:prstGeom>
          <a:solidFill>
            <a:srgbClr val="111111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57400" y="15011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A84C"/>
                </a:solidFill>
                <a:latin typeface="Calibri"/>
              </a:defRPr>
            </a:pPr>
            <a:r>
              <a:rPr dirty="0"/>
              <a:t>GL  Giuliana &amp; La </a:t>
            </a:r>
            <a:r>
              <a:rPr dirty="0" err="1"/>
              <a:t>Greca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5486400" y="152322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0ECE2"/>
                </a:solidFill>
                <a:latin typeface="Calibri"/>
              </a:defRPr>
            </a:pPr>
            <a:r>
              <a:t>Home    Chi Siamo    Servizi    Galleria    Contatti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286000"/>
            <a:ext cx="6705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44444"/>
                </a:solidFill>
                <a:latin typeface="Calibri"/>
              </a:defRPr>
            </a:pPr>
            <a:r>
              <a:t>• • •  particelle animate  • • 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743200"/>
            <a:ext cx="6705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ECE2"/>
                </a:solidFill>
                <a:latin typeface="Georgia"/>
              </a:defRPr>
            </a:pPr>
            <a:r>
              <a:t>Giuliana &amp; La Greca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38328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9A84C"/>
                </a:solidFill>
                <a:latin typeface="Calibri"/>
              </a:defRPr>
            </a:pPr>
            <a:r>
              <a:t>ONORANZE FUNEBRI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3840480"/>
            <a:ext cx="12188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0" y="4114800"/>
            <a:ext cx="6705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998A"/>
                </a:solidFill>
                <a:latin typeface="Georgia"/>
              </a:defRPr>
            </a:pPr>
            <a:r>
              <a:t>Vicini a voi nei momenti più difficili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663440"/>
            <a:ext cx="2133295" cy="502920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4709160"/>
            <a:ext cx="2133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11111"/>
                </a:solidFill>
                <a:latin typeface="Calibri"/>
              </a:defRPr>
            </a:pPr>
            <a:r>
              <a:t>✉  CONTATTACI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5303520"/>
            <a:ext cx="3413455" cy="365760"/>
          </a:xfrm>
          <a:prstGeom prst="roundRect">
            <a:avLst/>
          </a:prstGeom>
          <a:noFill/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9120" y="5321808"/>
            <a:ext cx="34134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9A84C"/>
                </a:solidFill>
                <a:latin typeface="Calibri"/>
              </a:defRPr>
            </a:pPr>
            <a:r>
              <a:t>⏰  Disponibili 24 ore su 24, 7 giorni su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760720"/>
            <a:ext cx="5790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998A"/>
                </a:solidFill>
                <a:latin typeface="Calibri"/>
              </a:defRPr>
            </a:pPr>
            <a:r>
              <a:t>☎ 333 963 8330    ☎ 338 544 2798    ☎ 327 047 7030    ☎ 366 861 6350</a:t>
            </a: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849" y="616972"/>
            <a:ext cx="9502964" cy="57154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t>MOCKUP: SERVIZI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ECE2"/>
                </a:solidFill>
                <a:latin typeface="Georgia"/>
              </a:defRPr>
            </a:pPr>
            <a:r>
              <a:t>8 servizi presentati con card interattive e icone dedicate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21945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256032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554480" y="2286000"/>
            <a:ext cx="914400" cy="914400"/>
          </a:xfrm>
          <a:prstGeom prst="ellipse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54480" y="2423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9A84C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ECE2"/>
                </a:solidFill>
                <a:latin typeface="Georgia"/>
              </a:defRPr>
            </a:pPr>
            <a:r>
              <a:t>Disbrigo Pratiche</a:t>
            </a:r>
            <a:br/>
            <a:r>
              <a:t>Funerarie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011680"/>
            <a:ext cx="2560320" cy="21945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66160" y="2011680"/>
            <a:ext cx="256032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389120" y="2286000"/>
            <a:ext cx="914400" cy="914400"/>
          </a:xfrm>
          <a:prstGeom prst="ellipse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2423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9A84C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2918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ECE2"/>
                </a:solidFill>
                <a:latin typeface="Georgia"/>
              </a:defRPr>
            </a:pPr>
            <a:r>
              <a:t>Vestizione</a:t>
            </a:r>
            <a:br/>
            <a:r>
              <a:t>Salme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011680"/>
            <a:ext cx="2560320" cy="21945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0" y="2011680"/>
            <a:ext cx="256032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223760" y="2286000"/>
            <a:ext cx="914400" cy="914400"/>
          </a:xfrm>
          <a:prstGeom prst="ellipse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23760" y="2423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9A84C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2918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ECE2"/>
                </a:solidFill>
                <a:latin typeface="Georgia"/>
              </a:defRPr>
            </a:pPr>
            <a:r>
              <a:t>Trasporti Nazionali</a:t>
            </a:r>
            <a:br/>
            <a:r>
              <a:t>ed Esteri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2011680"/>
            <a:ext cx="2560320" cy="21945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235440" y="2011680"/>
            <a:ext cx="256032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058400" y="2286000"/>
            <a:ext cx="914400" cy="914400"/>
          </a:xfrm>
          <a:prstGeom prst="ellipse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0" y="24231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9A84C"/>
                </a:solidFill>
                <a:latin typeface="Calibri"/>
              </a:defRPr>
            </a:pPr>
            <a:r>
              <a:t>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2918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ECE2"/>
                </a:solidFill>
                <a:latin typeface="Georgia"/>
              </a:defRPr>
            </a:pPr>
            <a:r>
              <a:t>Camera</a:t>
            </a:r>
            <a:br/>
            <a:r>
              <a:t>Ardente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572000"/>
            <a:ext cx="2560320" cy="21945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520" y="4572000"/>
            <a:ext cx="256032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554480" y="4846320"/>
            <a:ext cx="914400" cy="914400"/>
          </a:xfrm>
          <a:prstGeom prst="ellipse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554480" y="498348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9A84C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8521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ECE2"/>
                </a:solidFill>
                <a:latin typeface="Georgia"/>
              </a:defRPr>
            </a:pPr>
            <a:r>
              <a:t>Lavorazione</a:t>
            </a:r>
            <a:br/>
            <a:r>
              <a:t>Fotoceramica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66160" y="4572000"/>
            <a:ext cx="2560320" cy="21945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566160" y="4572000"/>
            <a:ext cx="256032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389120" y="4846320"/>
            <a:ext cx="914400" cy="914400"/>
          </a:xfrm>
          <a:prstGeom prst="ellipse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89120" y="498348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9A84C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40" y="58521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ECE2"/>
                </a:solidFill>
                <a:latin typeface="Georgia"/>
              </a:defRPr>
            </a:pPr>
            <a:r>
              <a:t>Manifesti</a:t>
            </a:r>
            <a:br/>
            <a:r>
              <a:t>Lutto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572000"/>
            <a:ext cx="2560320" cy="21945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00800" y="4572000"/>
            <a:ext cx="256032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223760" y="4846320"/>
            <a:ext cx="914400" cy="914400"/>
          </a:xfrm>
          <a:prstGeom prst="ellipse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223760" y="498348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9A84C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8521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ECE2"/>
                </a:solidFill>
                <a:latin typeface="Georgia"/>
              </a:defRPr>
            </a:pPr>
            <a:r>
              <a:t>Servizi</a:t>
            </a:r>
            <a:br/>
            <a:r>
              <a:t>Cimiteriali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35440" y="4572000"/>
            <a:ext cx="2560320" cy="219456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235440" y="4572000"/>
            <a:ext cx="256032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0058400" y="4846320"/>
            <a:ext cx="914400" cy="914400"/>
          </a:xfrm>
          <a:prstGeom prst="ellipse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058400" y="498348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9A84C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58521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ECE2"/>
                </a:solidFill>
                <a:latin typeface="Georgia"/>
              </a:defRPr>
            </a:pPr>
            <a:r>
              <a:t>Cremazione</a:t>
            </a:r>
            <a:br/>
            <a:r>
              <a:t>Persone e Animali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t>VANTAGGI RISPETTO A WORDPRESS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ECE2"/>
                </a:solidFill>
                <a:latin typeface="Georgia"/>
              </a:defRPr>
            </a:pPr>
            <a:r>
              <a:t>Perché un sito custom è la scelta migliore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657600" cy="5486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11111"/>
                </a:solidFill>
                <a:latin typeface="Calibri"/>
              </a:defRPr>
            </a:pPr>
            <a:r>
              <a:t>Caratteristica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011680"/>
            <a:ext cx="3383280" cy="5486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0" y="20574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ECE2"/>
                </a:solidFill>
                <a:latin typeface="Calibri"/>
              </a:defRPr>
            </a:pPr>
            <a:r>
              <a:t>✓  Il Vostro Sito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2011680"/>
            <a:ext cx="3657600" cy="548640"/>
          </a:xfrm>
          <a:prstGeom prst="rect">
            <a:avLst/>
          </a:prstGeom>
          <a:solidFill>
            <a:srgbClr val="C9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0" y="2057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ECE2"/>
                </a:solidFill>
                <a:latin typeface="Calibri"/>
              </a:defRPr>
            </a:pPr>
            <a:r>
              <a:t>✗  WordPress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10698480" cy="5029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ECE2"/>
                </a:solidFill>
                <a:latin typeface="Calibri"/>
              </a:defRPr>
            </a:pPr>
            <a:r>
              <a:t>Velocità di caricamento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6517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CAF50"/>
                </a:solidFill>
                <a:latin typeface="Calibri"/>
              </a:defRPr>
            </a:pPr>
            <a:r>
              <a:t>&lt; 1 secondo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6517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94C4C"/>
                </a:solidFill>
                <a:latin typeface="Calibri"/>
              </a:defRPr>
            </a:pPr>
            <a:r>
              <a:t>2-5 secondi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154680"/>
            <a:ext cx="10698480" cy="5029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2004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ECE2"/>
                </a:solidFill>
                <a:latin typeface="Calibri"/>
              </a:defRPr>
            </a:pPr>
            <a:r>
              <a:t>Peso pagina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2004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CAF50"/>
                </a:solidFill>
                <a:latin typeface="Calibri"/>
              </a:defRPr>
            </a:pPr>
            <a:r>
              <a:rPr dirty="0"/>
              <a:t>~ 300 KB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2004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94C4C"/>
                </a:solidFill>
                <a:latin typeface="Calibri"/>
              </a:defRPr>
            </a:pPr>
            <a:r>
              <a:t>2-5 MB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703320"/>
            <a:ext cx="10698480" cy="5029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7490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ECE2"/>
                </a:solidFill>
                <a:latin typeface="Calibri"/>
              </a:defRPr>
            </a:pPr>
            <a:r>
              <a:t>Sicurezza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7490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CAF50"/>
                </a:solidFill>
                <a:latin typeface="Calibri"/>
              </a:defRPr>
            </a:pPr>
            <a:r>
              <a:t>Nessuna vulnerabilità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7490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94C4C"/>
                </a:solidFill>
                <a:latin typeface="Calibri"/>
              </a:defRPr>
            </a:pPr>
            <a:r>
              <a:t>Aggiornamenti continui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251960"/>
            <a:ext cx="10698480" cy="5029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2976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ECE2"/>
                </a:solidFill>
                <a:latin typeface="Calibri"/>
              </a:defRPr>
            </a:pPr>
            <a:r>
              <a:rPr dirty="0" err="1"/>
              <a:t>Manutenzione</a:t>
            </a:r>
            <a:r>
              <a:rPr dirty="0"/>
              <a:t> </a:t>
            </a:r>
            <a:r>
              <a:rPr dirty="0" err="1"/>
              <a:t>tecnica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4389120" y="4297680"/>
            <a:ext cx="3383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CAF50"/>
                </a:solidFill>
                <a:latin typeface="Calibri"/>
              </a:defRPr>
            </a:pPr>
            <a:r>
              <a:rPr lang="it-IT" dirty="0" smtClean="0"/>
              <a:t>M</a:t>
            </a:r>
            <a:r>
              <a:rPr dirty="0" err="1" smtClean="0"/>
              <a:t>anutenzione</a:t>
            </a:r>
            <a:r>
              <a:rPr lang="it-IT" dirty="0" smtClean="0"/>
              <a:t> evolutiva da definire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7772400" y="42976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94C4C"/>
                </a:solidFill>
                <a:latin typeface="Calibri"/>
              </a:defRPr>
            </a:pPr>
            <a:r>
              <a:rPr dirty="0"/>
              <a:t>Plugin da </a:t>
            </a:r>
            <a:r>
              <a:rPr dirty="0" err="1"/>
              <a:t>aggiornare</a:t>
            </a:r>
            <a:endParaRPr dirty="0"/>
          </a:p>
        </p:txBody>
      </p:sp>
      <p:sp>
        <p:nvSpPr>
          <p:cNvPr id="27" name="Rectangle 26"/>
          <p:cNvSpPr/>
          <p:nvPr/>
        </p:nvSpPr>
        <p:spPr>
          <a:xfrm>
            <a:off x="731520" y="4800600"/>
            <a:ext cx="10698480" cy="5029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8463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ECE2"/>
                </a:solidFill>
                <a:latin typeface="Calibri"/>
              </a:defRPr>
            </a:pPr>
            <a:r>
              <a:t>Costi hosting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846320"/>
            <a:ext cx="3383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94C4C"/>
                </a:solidFill>
                <a:latin typeface="Calibri"/>
              </a:defRPr>
            </a:pPr>
            <a:r>
              <a:rPr lang="it-IT" dirty="0">
                <a:solidFill>
                  <a:schemeClr val="bg1"/>
                </a:solidFill>
              </a:rPr>
              <a:t>~ </a:t>
            </a:r>
            <a:r>
              <a:rPr lang="it-IT" dirty="0" smtClean="0">
                <a:solidFill>
                  <a:schemeClr val="bg1"/>
                </a:solidFill>
              </a:rPr>
              <a:t>100 EUR/anno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72400" y="4846320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94C4C"/>
                </a:solidFill>
                <a:latin typeface="Calibri"/>
              </a:defRPr>
            </a:pPr>
            <a:r>
              <a:rPr lang="it-IT" dirty="0" smtClean="0">
                <a:solidFill>
                  <a:schemeClr val="bg1"/>
                </a:solidFill>
              </a:rPr>
              <a:t>~ 10</a:t>
            </a:r>
            <a:r>
              <a:rPr dirty="0" smtClean="0">
                <a:solidFill>
                  <a:schemeClr val="bg1"/>
                </a:solidFill>
              </a:rPr>
              <a:t>0 EUR/</a:t>
            </a:r>
            <a:r>
              <a:rPr lang="it-IT" dirty="0" smtClean="0">
                <a:solidFill>
                  <a:schemeClr val="bg1"/>
                </a:solidFill>
              </a:rPr>
              <a:t>anno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31520" y="5349240"/>
            <a:ext cx="10698480" cy="5029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3949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ECE2"/>
                </a:solidFill>
                <a:latin typeface="Calibri"/>
              </a:defRPr>
            </a:pPr>
            <a:r>
              <a:t>Design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53949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CAF50"/>
                </a:solidFill>
                <a:latin typeface="Calibri"/>
              </a:defRPr>
            </a:pPr>
            <a:r>
              <a:rPr dirty="0"/>
              <a:t>100% </a:t>
            </a:r>
            <a:r>
              <a:rPr dirty="0" err="1"/>
              <a:t>personalizzato</a:t>
            </a:r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7772400" y="53949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94C4C"/>
                </a:solidFill>
                <a:latin typeface="Calibri"/>
              </a:defRPr>
            </a:pPr>
            <a:r>
              <a:t>Template predefiniti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897879"/>
            <a:ext cx="10698480" cy="5029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" y="594359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ECE2"/>
                </a:solidFill>
                <a:latin typeface="Calibri"/>
              </a:defRPr>
            </a:pPr>
            <a:r>
              <a:t>Dipendenza piattaforma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594359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CAF50"/>
                </a:solidFill>
                <a:latin typeface="Calibri"/>
              </a:defRPr>
            </a:pPr>
            <a:r>
              <a:t>Nessuna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594359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94C4C"/>
                </a:solidFill>
                <a:latin typeface="Calibri"/>
              </a:defRPr>
            </a:pPr>
            <a:r>
              <a:t>Vincolato a WordPress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t>CONFORMITÀ GDPR E PRIVACY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887730"/>
            <a:ext cx="11633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ECE2"/>
                </a:solidFill>
                <a:latin typeface="Georgia"/>
              </a:defRPr>
            </a:pPr>
            <a:r>
              <a:rPr dirty="0"/>
              <a:t>Il </a:t>
            </a:r>
            <a:r>
              <a:rPr dirty="0" err="1"/>
              <a:t>sito</a:t>
            </a:r>
            <a:r>
              <a:rPr dirty="0"/>
              <a:t> è </a:t>
            </a:r>
            <a:r>
              <a:rPr dirty="0" err="1"/>
              <a:t>pienamente</a:t>
            </a:r>
            <a:r>
              <a:rPr dirty="0"/>
              <a:t> </a:t>
            </a:r>
            <a:r>
              <a:rPr dirty="0" err="1"/>
              <a:t>conforme</a:t>
            </a:r>
            <a:r>
              <a:rPr dirty="0"/>
              <a:t> </a:t>
            </a:r>
            <a:r>
              <a:rPr dirty="0" err="1"/>
              <a:t>alla</a:t>
            </a:r>
            <a:r>
              <a:rPr dirty="0"/>
              <a:t> </a:t>
            </a:r>
            <a:r>
              <a:rPr dirty="0" err="1"/>
              <a:t>normativa</a:t>
            </a:r>
            <a:r>
              <a:rPr dirty="0"/>
              <a:t> </a:t>
            </a:r>
            <a:r>
              <a:rPr dirty="0" err="1"/>
              <a:t>europea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566160" cy="2103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C9A84C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ECE2"/>
                </a:solidFill>
                <a:latin typeface="Calibri"/>
              </a:defRPr>
            </a:pPr>
            <a:r>
              <a:t>Cookie Banner Intelligente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301752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998A"/>
                </a:solidFill>
                <a:latin typeface="Calibri"/>
              </a:defRPr>
            </a:pPr>
            <a:r>
              <a:rPr dirty="0"/>
              <a:t>3 </a:t>
            </a:r>
            <a:r>
              <a:rPr dirty="0" err="1"/>
              <a:t>opzioni</a:t>
            </a:r>
            <a:r>
              <a:rPr dirty="0"/>
              <a:t>: </a:t>
            </a:r>
            <a:r>
              <a:rPr dirty="0" err="1"/>
              <a:t>Accetta</a:t>
            </a:r>
            <a:r>
              <a:rPr dirty="0"/>
              <a:t> </a:t>
            </a:r>
            <a:r>
              <a:rPr dirty="0" err="1"/>
              <a:t>tutti</a:t>
            </a:r>
            <a:r>
              <a:rPr dirty="0"/>
              <a:t>, Solo </a:t>
            </a:r>
            <a:r>
              <a:rPr dirty="0" err="1"/>
              <a:t>necessari</a:t>
            </a:r>
            <a:r>
              <a:rPr dirty="0"/>
              <a:t>, </a:t>
            </a:r>
            <a:r>
              <a:rPr dirty="0" err="1" smtClean="0"/>
              <a:t>Personalizza</a:t>
            </a:r>
            <a:r>
              <a:rPr dirty="0" smtClean="0"/>
              <a:t>.</a:t>
            </a:r>
            <a:endParaRPr lang="it-IT" dirty="0" smtClean="0"/>
          </a:p>
          <a:p>
            <a:pPr algn="l">
              <a:defRPr sz="1300" b="0">
                <a:solidFill>
                  <a:srgbClr val="A0998A"/>
                </a:solidFill>
                <a:latin typeface="Calibri"/>
              </a:defRPr>
            </a:pPr>
            <a:r>
              <a:rPr dirty="0" smtClean="0"/>
              <a:t>Le </a:t>
            </a:r>
            <a:r>
              <a:rPr dirty="0" err="1"/>
              <a:t>preferenze</a:t>
            </a:r>
            <a:r>
              <a:rPr dirty="0"/>
              <a:t> </a:t>
            </a:r>
            <a:r>
              <a:rPr dirty="0" err="1"/>
              <a:t>vengono</a:t>
            </a:r>
            <a:r>
              <a:rPr dirty="0"/>
              <a:t> </a:t>
            </a:r>
            <a:r>
              <a:rPr dirty="0" err="1"/>
              <a:t>salvate</a:t>
            </a:r>
            <a:r>
              <a:rPr dirty="0"/>
              <a:t> per 6 </a:t>
            </a:r>
            <a:r>
              <a:rPr dirty="0" err="1"/>
              <a:t>mesi</a:t>
            </a:r>
            <a:r>
              <a:rPr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011680"/>
            <a:ext cx="3566160" cy="2103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C9A84C"/>
                </a:solidFill>
                <a:latin typeface="Calibri"/>
              </a:defRPr>
            </a:pPr>
            <a:r>
              <a:t>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ECE2"/>
                </a:solidFill>
                <a:latin typeface="Calibri"/>
              </a:defRPr>
            </a:pPr>
            <a:r>
              <a:t>Pannello Personalizzazione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34640"/>
            <a:ext cx="301752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998A"/>
                </a:solidFill>
                <a:latin typeface="Calibri"/>
              </a:defRPr>
            </a:pPr>
            <a:r>
              <a:rPr dirty="0"/>
              <a:t>Toggle per </a:t>
            </a:r>
            <a:r>
              <a:rPr dirty="0" err="1"/>
              <a:t>categorie</a:t>
            </a:r>
            <a:r>
              <a:rPr dirty="0"/>
              <a:t>: cookie </a:t>
            </a:r>
            <a:r>
              <a:rPr dirty="0" err="1"/>
              <a:t>tecnici</a:t>
            </a:r>
            <a:r>
              <a:rPr dirty="0"/>
              <a:t> </a:t>
            </a:r>
            <a:r>
              <a:rPr dirty="0" err="1"/>
              <a:t>sempre</a:t>
            </a:r>
            <a:r>
              <a:rPr dirty="0"/>
              <a:t> </a:t>
            </a:r>
            <a:r>
              <a:rPr dirty="0" err="1" smtClean="0"/>
              <a:t>attivi</a:t>
            </a:r>
            <a:r>
              <a:rPr dirty="0" smtClean="0"/>
              <a:t>,</a:t>
            </a:r>
            <a:r>
              <a:rPr lang="it-IT" dirty="0" smtClean="0"/>
              <a:t> </a:t>
            </a:r>
            <a:r>
              <a:rPr dirty="0" smtClean="0"/>
              <a:t>cookie </a:t>
            </a:r>
            <a:r>
              <a:rPr dirty="0"/>
              <a:t>di </a:t>
            </a:r>
            <a:r>
              <a:rPr dirty="0" err="1"/>
              <a:t>terze</a:t>
            </a:r>
            <a:r>
              <a:rPr dirty="0"/>
              <a:t> </a:t>
            </a:r>
            <a:r>
              <a:rPr dirty="0" err="1"/>
              <a:t>parti</a:t>
            </a:r>
            <a:r>
              <a:rPr dirty="0"/>
              <a:t> </a:t>
            </a:r>
            <a:r>
              <a:rPr dirty="0" err="1"/>
              <a:t>opzionali</a:t>
            </a:r>
            <a:r>
              <a:rPr dirty="0"/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011680"/>
            <a:ext cx="3566160" cy="2103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2194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C9A84C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ECE2"/>
                </a:solidFill>
                <a:latin typeface="Calibri"/>
              </a:defRPr>
            </a:pPr>
            <a:r>
              <a:t>Google Maps Condizionale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834640"/>
            <a:ext cx="301752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998A"/>
                </a:solidFill>
                <a:latin typeface="Calibri"/>
              </a:defRPr>
            </a:pPr>
            <a:r>
              <a:rPr dirty="0"/>
              <a:t>La </a:t>
            </a:r>
            <a:r>
              <a:rPr dirty="0" err="1"/>
              <a:t>mappa</a:t>
            </a:r>
            <a:r>
              <a:rPr dirty="0"/>
              <a:t> </a:t>
            </a:r>
            <a:r>
              <a:rPr dirty="0" err="1"/>
              <a:t>viene</a:t>
            </a:r>
            <a:r>
              <a:rPr dirty="0"/>
              <a:t> </a:t>
            </a:r>
            <a:r>
              <a:rPr dirty="0" err="1"/>
              <a:t>caricata</a:t>
            </a:r>
            <a:r>
              <a:rPr dirty="0"/>
              <a:t> SOLO </a:t>
            </a:r>
            <a:r>
              <a:rPr dirty="0" err="1"/>
              <a:t>dopo</a:t>
            </a:r>
            <a:r>
              <a:rPr dirty="0"/>
              <a:t> </a:t>
            </a:r>
            <a:r>
              <a:rPr dirty="0" err="1"/>
              <a:t>il</a:t>
            </a:r>
            <a:r>
              <a:rPr dirty="0"/>
              <a:t> </a:t>
            </a:r>
            <a:r>
              <a:rPr dirty="0" err="1" smtClean="0"/>
              <a:t>consenso</a:t>
            </a:r>
            <a:r>
              <a:rPr lang="it-IT" dirty="0" smtClean="0"/>
              <a:t> </a:t>
            </a:r>
            <a:r>
              <a:rPr dirty="0" err="1" smtClean="0"/>
              <a:t>esplicito</a:t>
            </a:r>
            <a:r>
              <a:rPr dirty="0" smtClean="0"/>
              <a:t> </a:t>
            </a:r>
            <a:r>
              <a:rPr dirty="0" err="1"/>
              <a:t>dell'utente</a:t>
            </a:r>
            <a:r>
              <a:rPr dirty="0"/>
              <a:t> per </a:t>
            </a:r>
            <a:r>
              <a:rPr dirty="0" err="1"/>
              <a:t>i</a:t>
            </a:r>
            <a:r>
              <a:rPr dirty="0"/>
              <a:t> cookie di </a:t>
            </a:r>
            <a:r>
              <a:rPr dirty="0" err="1"/>
              <a:t>terze</a:t>
            </a:r>
            <a:r>
              <a:rPr dirty="0"/>
              <a:t> </a:t>
            </a:r>
            <a:r>
              <a:rPr dirty="0" err="1"/>
              <a:t>parti</a:t>
            </a:r>
            <a:r>
              <a:rPr dirty="0"/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389120"/>
            <a:ext cx="3566160" cy="2103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C9A84C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617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ECE2"/>
                </a:solidFill>
                <a:latin typeface="Calibri"/>
              </a:defRPr>
            </a:pPr>
            <a:r>
              <a:t>Privacy Policy Completa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998A"/>
                </a:solidFill>
                <a:latin typeface="Calibri"/>
              </a:defRPr>
            </a:pPr>
            <a:r>
              <a:rPr dirty="0" err="1"/>
              <a:t>Pagina</a:t>
            </a:r>
            <a:r>
              <a:rPr dirty="0"/>
              <a:t> </a:t>
            </a:r>
            <a:r>
              <a:rPr dirty="0" err="1"/>
              <a:t>dedicata</a:t>
            </a:r>
            <a:r>
              <a:rPr dirty="0"/>
              <a:t> con 11 </a:t>
            </a:r>
            <a:r>
              <a:rPr dirty="0" err="1"/>
              <a:t>articoli</a:t>
            </a:r>
            <a:r>
              <a:rPr dirty="0"/>
              <a:t> </a:t>
            </a:r>
            <a:r>
              <a:rPr dirty="0" err="1"/>
              <a:t>conformi</a:t>
            </a:r>
            <a:r>
              <a:rPr dirty="0"/>
              <a:t/>
            </a:r>
            <a:br>
              <a:rPr dirty="0"/>
            </a:br>
            <a:r>
              <a:rPr dirty="0" err="1"/>
              <a:t>all'art</a:t>
            </a:r>
            <a:r>
              <a:rPr dirty="0"/>
              <a:t>. 13 del GDPR.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4389120"/>
            <a:ext cx="3566160" cy="2103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0" y="4572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C9A84C"/>
                </a:solidFill>
                <a:latin typeface="Calibri"/>
              </a:defRPr>
            </a:pPr>
            <a:r>
              <a:t>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4617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ECE2"/>
                </a:solidFill>
                <a:latin typeface="Calibri"/>
              </a:defRPr>
            </a:pPr>
            <a:r>
              <a:t>Cookie Policy Dettagliata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2120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998A"/>
                </a:solidFill>
                <a:latin typeface="Calibri"/>
              </a:defRPr>
            </a:pPr>
            <a:r>
              <a:rPr dirty="0" err="1"/>
              <a:t>Elenco</a:t>
            </a:r>
            <a:r>
              <a:rPr dirty="0"/>
              <a:t> cookie </a:t>
            </a:r>
            <a:r>
              <a:rPr dirty="0" err="1"/>
              <a:t>tecnici</a:t>
            </a:r>
            <a:r>
              <a:rPr dirty="0"/>
              <a:t> e </a:t>
            </a:r>
            <a:r>
              <a:rPr dirty="0" err="1"/>
              <a:t>terze</a:t>
            </a:r>
            <a:r>
              <a:rPr dirty="0"/>
              <a:t> </a:t>
            </a:r>
            <a:r>
              <a:rPr dirty="0" err="1"/>
              <a:t>parti</a:t>
            </a:r>
            <a:r>
              <a:rPr dirty="0"/>
              <a:t>,</a:t>
            </a:r>
            <a:br>
              <a:rPr dirty="0"/>
            </a:br>
            <a:r>
              <a:rPr dirty="0" err="1"/>
              <a:t>istruzioni</a:t>
            </a:r>
            <a:r>
              <a:rPr dirty="0"/>
              <a:t> </a:t>
            </a:r>
            <a:r>
              <a:rPr dirty="0" err="1"/>
              <a:t>disabilitazione</a:t>
            </a:r>
            <a:r>
              <a:rPr dirty="0"/>
              <a:t> browser.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4389120"/>
            <a:ext cx="3566160" cy="21031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0" y="4572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C9A84C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4617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ECE2"/>
                </a:solidFill>
                <a:latin typeface="Calibri"/>
              </a:defRPr>
            </a:pPr>
            <a:r>
              <a:t>Checkbox Privacy nel 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21208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998A"/>
                </a:solidFill>
                <a:latin typeface="Calibri"/>
              </a:defRPr>
            </a:pPr>
            <a:r>
              <a:t>Consenso obbligatorio prima dell'invio</a:t>
            </a:r>
            <a:br/>
            <a:r>
              <a:t>del messaggio di contatto.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rPr dirty="0"/>
              <a:t>COSA INCLUDE IL SITO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ECE2"/>
                </a:solidFill>
                <a:latin typeface="Georgia"/>
              </a:defRPr>
            </a:pPr>
            <a:r>
              <a:t>Tutto ciò che è incluso nel progetto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 dirty="0">
                <a:solidFill>
                  <a:srgbClr val="C9A84C"/>
                </a:solidFill>
                <a:latin typeface="Calibri"/>
              </a:rPr>
              <a:t>◆  </a:t>
            </a:r>
            <a:r>
              <a:rPr sz="1500" dirty="0">
                <a:solidFill>
                  <a:srgbClr val="A0998A"/>
                </a:solidFill>
                <a:latin typeface="Calibri"/>
              </a:rPr>
              <a:t>Design </a:t>
            </a:r>
            <a:r>
              <a:rPr sz="1500" dirty="0" err="1">
                <a:solidFill>
                  <a:srgbClr val="A0998A"/>
                </a:solidFill>
                <a:latin typeface="Calibri"/>
              </a:rPr>
              <a:t>esclusivo</a:t>
            </a:r>
            <a:r>
              <a:rPr sz="1500" dirty="0">
                <a:solidFill>
                  <a:srgbClr val="A0998A"/>
                </a:solidFill>
                <a:latin typeface="Calibri"/>
              </a:rPr>
              <a:t> e </a:t>
            </a:r>
            <a:r>
              <a:rPr sz="1500" dirty="0" err="1">
                <a:solidFill>
                  <a:srgbClr val="A0998A"/>
                </a:solidFill>
                <a:latin typeface="Calibri"/>
              </a:rPr>
              <a:t>personalizzato</a:t>
            </a:r>
            <a:r>
              <a:rPr sz="1500" dirty="0">
                <a:solidFill>
                  <a:srgbClr val="A0998A"/>
                </a:solidFill>
                <a:latin typeface="Calibri"/>
              </a:rPr>
              <a:t> (no template)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 dirty="0">
                <a:solidFill>
                  <a:srgbClr val="C9A84C"/>
                </a:solidFill>
                <a:latin typeface="Calibri"/>
              </a:rPr>
              <a:t>◆  </a:t>
            </a:r>
            <a:r>
              <a:rPr sz="1500" dirty="0" err="1">
                <a:solidFill>
                  <a:srgbClr val="A0998A"/>
                </a:solidFill>
                <a:latin typeface="Calibri"/>
              </a:rPr>
              <a:t>Sito</a:t>
            </a:r>
            <a:r>
              <a:rPr sz="1500" dirty="0">
                <a:solidFill>
                  <a:srgbClr val="A0998A"/>
                </a:solidFill>
                <a:latin typeface="Calibri"/>
              </a:rPr>
              <a:t> single-page con 7 </a:t>
            </a:r>
            <a:r>
              <a:rPr sz="1500" dirty="0" err="1">
                <a:solidFill>
                  <a:srgbClr val="A0998A"/>
                </a:solidFill>
                <a:latin typeface="Calibri"/>
              </a:rPr>
              <a:t>sezioni</a:t>
            </a:r>
            <a:r>
              <a:rPr sz="1500" dirty="0">
                <a:solidFill>
                  <a:srgbClr val="A0998A"/>
                </a:solidFill>
                <a:latin typeface="Calibri"/>
              </a:rPr>
              <a:t> complete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 dirty="0">
                <a:solidFill>
                  <a:srgbClr val="C9A84C"/>
                </a:solidFill>
                <a:latin typeface="Calibri"/>
              </a:rPr>
              <a:t>◆  </a:t>
            </a:r>
            <a:r>
              <a:rPr sz="1500" dirty="0">
                <a:solidFill>
                  <a:srgbClr val="A0998A"/>
                </a:solidFill>
                <a:latin typeface="Calibri"/>
              </a:rPr>
              <a:t>8 </a:t>
            </a:r>
            <a:r>
              <a:rPr sz="1500" dirty="0" err="1">
                <a:solidFill>
                  <a:srgbClr val="A0998A"/>
                </a:solidFill>
                <a:latin typeface="Calibri"/>
              </a:rPr>
              <a:t>servizi</a:t>
            </a:r>
            <a:r>
              <a:rPr sz="1500" dirty="0">
                <a:solidFill>
                  <a:srgbClr val="A0998A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A0998A"/>
                </a:solidFill>
                <a:latin typeface="Calibri"/>
              </a:rPr>
              <a:t>dettagliati</a:t>
            </a:r>
            <a:r>
              <a:rPr sz="1500" dirty="0">
                <a:solidFill>
                  <a:srgbClr val="A0998A"/>
                </a:solidFill>
                <a:latin typeface="Calibri"/>
              </a:rPr>
              <a:t> con </a:t>
            </a:r>
            <a:r>
              <a:rPr sz="1500" dirty="0" err="1">
                <a:solidFill>
                  <a:srgbClr val="A0998A"/>
                </a:solidFill>
                <a:latin typeface="Calibri"/>
              </a:rPr>
              <a:t>icone</a:t>
            </a:r>
            <a:r>
              <a:rPr sz="1500" dirty="0">
                <a:solidFill>
                  <a:srgbClr val="A0998A"/>
                </a:solidFill>
                <a:latin typeface="Calibri"/>
              </a:rPr>
              <a:t> animate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 dirty="0">
                <a:solidFill>
                  <a:srgbClr val="C9A84C"/>
                </a:solidFill>
                <a:latin typeface="Calibri"/>
              </a:rPr>
              <a:t>◆  </a:t>
            </a:r>
            <a:r>
              <a:rPr sz="1500" dirty="0">
                <a:solidFill>
                  <a:srgbClr val="A0998A"/>
                </a:solidFill>
                <a:latin typeface="Calibri"/>
              </a:rPr>
              <a:t>Galleria </a:t>
            </a:r>
            <a:r>
              <a:rPr sz="1500" dirty="0" err="1">
                <a:solidFill>
                  <a:srgbClr val="A0998A"/>
                </a:solidFill>
                <a:latin typeface="Calibri"/>
              </a:rPr>
              <a:t>fotografica</a:t>
            </a:r>
            <a:r>
              <a:rPr sz="1500" dirty="0">
                <a:solidFill>
                  <a:srgbClr val="A0998A"/>
                </a:solidFill>
                <a:latin typeface="Calibri"/>
              </a:rPr>
              <a:t> con carousel </a:t>
            </a:r>
            <a:r>
              <a:rPr sz="1500" dirty="0" err="1">
                <a:solidFill>
                  <a:srgbClr val="A0998A"/>
                </a:solidFill>
                <a:latin typeface="Calibri"/>
              </a:rPr>
              <a:t>lightbox</a:t>
            </a:r>
            <a:endParaRPr sz="1500" dirty="0">
              <a:solidFill>
                <a:srgbClr val="A0998A"/>
              </a:solidFill>
              <a:latin typeface="Calibri"/>
            </a:endParaRP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 dirty="0">
                <a:solidFill>
                  <a:srgbClr val="C9A84C"/>
                </a:solidFill>
                <a:latin typeface="Calibri"/>
              </a:rPr>
              <a:t>◆  </a:t>
            </a:r>
            <a:r>
              <a:rPr sz="1500" dirty="0" err="1">
                <a:solidFill>
                  <a:srgbClr val="A0998A"/>
                </a:solidFill>
                <a:latin typeface="Calibri"/>
              </a:rPr>
              <a:t>Animazioni</a:t>
            </a:r>
            <a:r>
              <a:rPr sz="1500" dirty="0">
                <a:solidFill>
                  <a:srgbClr val="A0998A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A0998A"/>
                </a:solidFill>
                <a:latin typeface="Calibri"/>
              </a:rPr>
              <a:t>professionali</a:t>
            </a:r>
            <a:r>
              <a:rPr sz="1500" dirty="0">
                <a:solidFill>
                  <a:srgbClr val="A0998A"/>
                </a:solidFill>
                <a:latin typeface="Calibri"/>
              </a:rPr>
              <a:t> (</a:t>
            </a:r>
            <a:r>
              <a:rPr sz="1500" dirty="0" err="1">
                <a:solidFill>
                  <a:srgbClr val="A0998A"/>
                </a:solidFill>
                <a:latin typeface="Calibri"/>
              </a:rPr>
              <a:t>particelle</a:t>
            </a:r>
            <a:r>
              <a:rPr sz="1500" dirty="0">
                <a:solidFill>
                  <a:srgbClr val="A0998A"/>
                </a:solidFill>
                <a:latin typeface="Calibri"/>
              </a:rPr>
              <a:t>, fade-in)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 dirty="0">
                <a:solidFill>
                  <a:srgbClr val="C9A84C"/>
                </a:solidFill>
                <a:latin typeface="Calibri"/>
              </a:rPr>
              <a:t>◆  </a:t>
            </a:r>
            <a:r>
              <a:rPr sz="1500" dirty="0">
                <a:solidFill>
                  <a:srgbClr val="A0998A"/>
                </a:solidFill>
                <a:latin typeface="Calibri"/>
              </a:rPr>
              <a:t>4 numeri di </a:t>
            </a:r>
            <a:r>
              <a:rPr sz="1500" dirty="0" err="1">
                <a:solidFill>
                  <a:srgbClr val="A0998A"/>
                </a:solidFill>
                <a:latin typeface="Calibri"/>
              </a:rPr>
              <a:t>telefono</a:t>
            </a:r>
            <a:r>
              <a:rPr sz="1500" dirty="0">
                <a:solidFill>
                  <a:srgbClr val="A0998A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A0998A"/>
                </a:solidFill>
                <a:latin typeface="Calibri"/>
              </a:rPr>
              <a:t>cliccabili</a:t>
            </a:r>
            <a:r>
              <a:rPr sz="1500" dirty="0">
                <a:solidFill>
                  <a:srgbClr val="A0998A"/>
                </a:solidFill>
                <a:latin typeface="Calibri"/>
              </a:rPr>
              <a:t> (click-to-call)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 dirty="0">
                <a:solidFill>
                  <a:srgbClr val="C9A84C"/>
                </a:solidFill>
                <a:latin typeface="Calibri"/>
              </a:rPr>
              <a:t>◆  </a:t>
            </a:r>
            <a:r>
              <a:rPr sz="1500" dirty="0" err="1">
                <a:solidFill>
                  <a:srgbClr val="A0998A"/>
                </a:solidFill>
                <a:latin typeface="Calibri"/>
              </a:rPr>
              <a:t>Pulsante</a:t>
            </a:r>
            <a:r>
              <a:rPr sz="1500" dirty="0">
                <a:solidFill>
                  <a:srgbClr val="A0998A"/>
                </a:solidFill>
                <a:latin typeface="Calibri"/>
              </a:rPr>
              <a:t> WhatsApp </a:t>
            </a:r>
            <a:r>
              <a:rPr sz="1500" dirty="0" err="1">
                <a:solidFill>
                  <a:srgbClr val="A0998A"/>
                </a:solidFill>
                <a:latin typeface="Calibri"/>
              </a:rPr>
              <a:t>sempre</a:t>
            </a:r>
            <a:r>
              <a:rPr sz="1500" dirty="0">
                <a:solidFill>
                  <a:srgbClr val="A0998A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A0998A"/>
                </a:solidFill>
                <a:latin typeface="Calibri"/>
              </a:rPr>
              <a:t>visibile</a:t>
            </a:r>
            <a:endParaRPr sz="1500" dirty="0">
              <a:solidFill>
                <a:srgbClr val="A0998A"/>
              </a:solidFill>
              <a:latin typeface="Calibri"/>
            </a:endParaRP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 dirty="0">
                <a:solidFill>
                  <a:srgbClr val="C9A84C"/>
                </a:solidFill>
                <a:latin typeface="Calibri"/>
              </a:rPr>
              <a:t>◆  </a:t>
            </a:r>
            <a:r>
              <a:rPr sz="1500" dirty="0">
                <a:solidFill>
                  <a:srgbClr val="A0998A"/>
                </a:solidFill>
                <a:latin typeface="Calibri"/>
              </a:rPr>
              <a:t>Modulo di </a:t>
            </a:r>
            <a:r>
              <a:rPr sz="1500" dirty="0" err="1">
                <a:solidFill>
                  <a:srgbClr val="A0998A"/>
                </a:solidFill>
                <a:latin typeface="Calibri"/>
              </a:rPr>
              <a:t>contatto</a:t>
            </a:r>
            <a:r>
              <a:rPr sz="1500" dirty="0">
                <a:solidFill>
                  <a:srgbClr val="A0998A"/>
                </a:solidFill>
                <a:latin typeface="Calibri"/>
              </a:rPr>
              <a:t> con </a:t>
            </a:r>
            <a:r>
              <a:rPr sz="1500" dirty="0" err="1">
                <a:solidFill>
                  <a:srgbClr val="A0998A"/>
                </a:solidFill>
                <a:latin typeface="Calibri"/>
              </a:rPr>
              <a:t>validazione</a:t>
            </a:r>
            <a:endParaRPr sz="1500" dirty="0">
              <a:solidFill>
                <a:srgbClr val="A0998A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0" y="1920240"/>
            <a:ext cx="530352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 dirty="0">
                <a:solidFill>
                  <a:srgbClr val="C9A84C"/>
                </a:solidFill>
                <a:latin typeface="Calibri"/>
              </a:rPr>
              <a:t>◆  </a:t>
            </a:r>
            <a:r>
              <a:rPr sz="1500" dirty="0" err="1">
                <a:solidFill>
                  <a:srgbClr val="A0998A"/>
                </a:solidFill>
                <a:latin typeface="Calibri"/>
              </a:rPr>
              <a:t>Mappa</a:t>
            </a:r>
            <a:r>
              <a:rPr sz="1500" dirty="0">
                <a:solidFill>
                  <a:srgbClr val="A0998A"/>
                </a:solidFill>
                <a:latin typeface="Calibri"/>
              </a:rPr>
              <a:t> Google Maps </a:t>
            </a:r>
            <a:r>
              <a:rPr sz="1500" dirty="0" err="1">
                <a:solidFill>
                  <a:srgbClr val="A0998A"/>
                </a:solidFill>
                <a:latin typeface="Calibri"/>
              </a:rPr>
              <a:t>interattiva</a:t>
            </a:r>
            <a:endParaRPr sz="1500" dirty="0">
              <a:solidFill>
                <a:srgbClr val="A0998A"/>
              </a:solidFill>
              <a:latin typeface="Calibri"/>
            </a:endParaRP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 dirty="0">
                <a:solidFill>
                  <a:srgbClr val="C9A84C"/>
                </a:solidFill>
                <a:latin typeface="Calibri"/>
              </a:rPr>
              <a:t>◆  </a:t>
            </a:r>
            <a:r>
              <a:rPr sz="1500" dirty="0" err="1">
                <a:solidFill>
                  <a:srgbClr val="A0998A"/>
                </a:solidFill>
                <a:latin typeface="Calibri"/>
              </a:rPr>
              <a:t>Conformità</a:t>
            </a:r>
            <a:r>
              <a:rPr sz="1500" dirty="0">
                <a:solidFill>
                  <a:srgbClr val="A0998A"/>
                </a:solidFill>
                <a:latin typeface="Calibri"/>
              </a:rPr>
              <a:t> GDPR </a:t>
            </a:r>
            <a:r>
              <a:rPr sz="1500" dirty="0" err="1">
                <a:solidFill>
                  <a:srgbClr val="A0998A"/>
                </a:solidFill>
                <a:latin typeface="Calibri"/>
              </a:rPr>
              <a:t>completa</a:t>
            </a:r>
            <a:endParaRPr sz="1500" dirty="0">
              <a:solidFill>
                <a:srgbClr val="A0998A"/>
              </a:solidFill>
              <a:latin typeface="Calibri"/>
            </a:endParaRP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 dirty="0">
                <a:solidFill>
                  <a:srgbClr val="C9A84C"/>
                </a:solidFill>
                <a:latin typeface="Calibri"/>
              </a:rPr>
              <a:t>◆  </a:t>
            </a:r>
            <a:r>
              <a:rPr sz="1500" dirty="0">
                <a:solidFill>
                  <a:srgbClr val="A0998A"/>
                </a:solidFill>
                <a:latin typeface="Calibri"/>
              </a:rPr>
              <a:t>Privacy Policy e Cookie Policy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 dirty="0">
                <a:solidFill>
                  <a:srgbClr val="C9A84C"/>
                </a:solidFill>
                <a:latin typeface="Calibri"/>
              </a:rPr>
              <a:t>◆  </a:t>
            </a:r>
            <a:r>
              <a:rPr sz="1500" dirty="0">
                <a:solidFill>
                  <a:srgbClr val="A0998A"/>
                </a:solidFill>
                <a:latin typeface="Calibri"/>
              </a:rPr>
              <a:t>Design responsive per </a:t>
            </a:r>
            <a:r>
              <a:rPr sz="1500" dirty="0" err="1">
                <a:solidFill>
                  <a:srgbClr val="A0998A"/>
                </a:solidFill>
                <a:latin typeface="Calibri"/>
              </a:rPr>
              <a:t>tutti</a:t>
            </a:r>
            <a:r>
              <a:rPr sz="1500" dirty="0">
                <a:solidFill>
                  <a:srgbClr val="A0998A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A0998A"/>
                </a:solidFill>
                <a:latin typeface="Calibri"/>
              </a:rPr>
              <a:t>i</a:t>
            </a:r>
            <a:r>
              <a:rPr sz="1500" dirty="0">
                <a:solidFill>
                  <a:srgbClr val="A0998A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A0998A"/>
                </a:solidFill>
                <a:latin typeface="Calibri"/>
              </a:rPr>
              <a:t>dispositivi</a:t>
            </a:r>
            <a:endParaRPr sz="1500" dirty="0">
              <a:solidFill>
                <a:srgbClr val="A0998A"/>
              </a:solidFill>
              <a:latin typeface="Calibri"/>
            </a:endParaRP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 dirty="0">
                <a:solidFill>
                  <a:srgbClr val="C9A84C"/>
                </a:solidFill>
                <a:latin typeface="Calibri"/>
              </a:rPr>
              <a:t>◆  </a:t>
            </a:r>
            <a:r>
              <a:rPr sz="1500" dirty="0" err="1">
                <a:solidFill>
                  <a:srgbClr val="A0998A"/>
                </a:solidFill>
                <a:latin typeface="Calibri"/>
              </a:rPr>
              <a:t>Ottimizzazione</a:t>
            </a:r>
            <a:r>
              <a:rPr sz="1500" dirty="0">
                <a:solidFill>
                  <a:srgbClr val="A0998A"/>
                </a:solidFill>
                <a:latin typeface="Calibri"/>
              </a:rPr>
              <a:t> SEO per Google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 dirty="0">
                <a:solidFill>
                  <a:srgbClr val="C9A84C"/>
                </a:solidFill>
                <a:latin typeface="Calibri"/>
              </a:rPr>
              <a:t>◆  </a:t>
            </a:r>
            <a:r>
              <a:rPr sz="1500" dirty="0">
                <a:solidFill>
                  <a:srgbClr val="A0998A"/>
                </a:solidFill>
                <a:latin typeface="Calibri"/>
              </a:rPr>
              <a:t>Favicon </a:t>
            </a:r>
            <a:r>
              <a:rPr sz="1500" dirty="0" err="1">
                <a:solidFill>
                  <a:srgbClr val="A0998A"/>
                </a:solidFill>
                <a:latin typeface="Calibri"/>
              </a:rPr>
              <a:t>personalizzato</a:t>
            </a:r>
            <a:r>
              <a:rPr sz="1500" dirty="0">
                <a:solidFill>
                  <a:srgbClr val="A0998A"/>
                </a:solidFill>
                <a:latin typeface="Calibri"/>
              </a:rPr>
              <a:t> dal logo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 dirty="0">
                <a:solidFill>
                  <a:srgbClr val="C9A84C"/>
                </a:solidFill>
                <a:latin typeface="Calibri"/>
              </a:rPr>
              <a:t>◆  </a:t>
            </a:r>
            <a:r>
              <a:rPr sz="1500" dirty="0" err="1">
                <a:solidFill>
                  <a:srgbClr val="A0998A"/>
                </a:solidFill>
                <a:latin typeface="Calibri"/>
              </a:rPr>
              <a:t>Pubblicazione</a:t>
            </a:r>
            <a:r>
              <a:rPr sz="1500" dirty="0">
                <a:solidFill>
                  <a:srgbClr val="A0998A"/>
                </a:solidFill>
                <a:latin typeface="Calibri"/>
              </a:rPr>
              <a:t> online, hosting e </a:t>
            </a:r>
            <a:r>
              <a:rPr sz="1500" dirty="0" err="1">
                <a:solidFill>
                  <a:srgbClr val="A0998A"/>
                </a:solidFill>
                <a:latin typeface="Calibri"/>
              </a:rPr>
              <a:t>configurazione</a:t>
            </a:r>
            <a:r>
              <a:rPr sz="1500" dirty="0">
                <a:solidFill>
                  <a:srgbClr val="A0998A"/>
                </a:solidFill>
                <a:latin typeface="Calibri"/>
              </a:rPr>
              <a:t> </a:t>
            </a:r>
            <a:r>
              <a:rPr sz="1500" dirty="0" err="1" smtClean="0">
                <a:solidFill>
                  <a:srgbClr val="A0998A"/>
                </a:solidFill>
                <a:latin typeface="Calibri"/>
              </a:rPr>
              <a:t>dominio</a:t>
            </a:r>
            <a:endParaRPr lang="it-IT" sz="1500" dirty="0" smtClean="0">
              <a:solidFill>
                <a:srgbClr val="A0998A"/>
              </a:solidFill>
              <a:latin typeface="Calibri"/>
            </a:endParaRP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lang="it-IT" sz="1100" dirty="0">
                <a:solidFill>
                  <a:srgbClr val="C9A84C"/>
                </a:solidFill>
              </a:rPr>
              <a:t>◆  </a:t>
            </a:r>
            <a:r>
              <a:rPr lang="it-IT" sz="1500" dirty="0" smtClean="0">
                <a:solidFill>
                  <a:srgbClr val="A0998A"/>
                </a:solidFill>
              </a:rPr>
              <a:t>5 caselle email dedicate da 1GB ciascuno</a:t>
            </a:r>
            <a:endParaRPr lang="it-IT" sz="1500" dirty="0">
              <a:solidFill>
                <a:srgbClr val="A0998A"/>
              </a:solidFill>
            </a:endParaRPr>
          </a:p>
        </p:txBody>
      </p:sp>
      <p:sp>
        <p:nvSpPr>
          <p:cNvPr id="7" name="Rettangolo 6"/>
          <p:cNvSpPr/>
          <p:nvPr/>
        </p:nvSpPr>
        <p:spPr>
          <a:xfrm>
            <a:off x="4284846" y="5297235"/>
            <a:ext cx="34089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lang="it-IT" sz="3200" dirty="0" smtClean="0">
                <a:solidFill>
                  <a:srgbClr val="C9A84C"/>
                </a:solidFill>
              </a:rPr>
              <a:t>Codice proprietario</a:t>
            </a:r>
            <a:endParaRPr lang="it-IT" sz="4400" dirty="0">
              <a:solidFill>
                <a:srgbClr val="A0998A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1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rPr dirty="0"/>
              <a:t>PREVENTIVO ECONOMICO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84421"/>
            <a:ext cx="18288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9491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ECE2"/>
                </a:solidFill>
                <a:latin typeface="Georgia"/>
              </a:defRPr>
            </a:pPr>
            <a:r>
              <a:t>Investimento per il vostro sito web professionale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92451"/>
            <a:ext cx="8229600" cy="5029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238171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Calibri"/>
              </a:defRPr>
            </a:pPr>
            <a:r>
              <a:t>Voce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1192451"/>
            <a:ext cx="2468880" cy="5029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0" y="1238171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11111"/>
                </a:solidFill>
                <a:latin typeface="Calibri"/>
              </a:defRPr>
            </a:pPr>
            <a:r>
              <a:t>Importo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741091"/>
            <a:ext cx="10698480" cy="3657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75937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998A"/>
                </a:solidFill>
                <a:latin typeface="Calibri"/>
              </a:defRPr>
            </a:pPr>
            <a:r>
              <a:t>Progettazione grafica e UX/UI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175937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0ECE2"/>
                </a:solidFill>
                <a:latin typeface="Calibri"/>
              </a:defRPr>
            </a:pPr>
            <a:r>
              <a:t>150,00 €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125139"/>
            <a:ext cx="10698480" cy="3657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143427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998A"/>
                </a:solidFill>
                <a:latin typeface="Calibri"/>
              </a:defRPr>
            </a:pPr>
            <a:r>
              <a:t>Sviluppo front-end (HTML5, CSS3, JavaScript)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2143427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0ECE2"/>
                </a:solidFill>
                <a:latin typeface="Calibri"/>
              </a:defRPr>
            </a:pPr>
            <a:r>
              <a:t>200,00 €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509187"/>
            <a:ext cx="10698480" cy="3657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2527475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998A"/>
                </a:solidFill>
                <a:latin typeface="Calibri"/>
              </a:defRPr>
            </a:pPr>
            <a:r>
              <a:t>Design responsive (desktop, tablet, mobile)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527475"/>
            <a:ext cx="2468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0ECE2"/>
                </a:solidFill>
                <a:latin typeface="Calibri"/>
              </a:defRPr>
            </a:pPr>
            <a:r>
              <a:rPr lang="it-IT" dirty="0" smtClean="0"/>
              <a:t>10</a:t>
            </a:r>
            <a:r>
              <a:rPr dirty="0" smtClean="0"/>
              <a:t>0,00 </a:t>
            </a:r>
            <a:r>
              <a:rPr dirty="0"/>
              <a:t>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893235"/>
            <a:ext cx="10698480" cy="3657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2911523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998A"/>
                </a:solidFill>
                <a:latin typeface="Calibri"/>
              </a:defRPr>
            </a:pPr>
            <a:r>
              <a:rPr dirty="0" err="1"/>
              <a:t>Animazioni</a:t>
            </a:r>
            <a:r>
              <a:rPr dirty="0"/>
              <a:t> e </a:t>
            </a:r>
            <a:r>
              <a:rPr dirty="0" err="1"/>
              <a:t>interazioni</a:t>
            </a:r>
            <a:r>
              <a:rPr dirty="0"/>
              <a:t> (</a:t>
            </a:r>
            <a:r>
              <a:rPr dirty="0" err="1"/>
              <a:t>particelle</a:t>
            </a:r>
            <a:r>
              <a:rPr dirty="0"/>
              <a:t>, scroll, carousel)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911523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0ECE2"/>
                </a:solidFill>
                <a:latin typeface="Calibri"/>
              </a:defRPr>
            </a:pPr>
            <a:r>
              <a:t>50,00 €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277283"/>
            <a:ext cx="10698480" cy="3657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3295571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998A"/>
                </a:solidFill>
                <a:latin typeface="Calibri"/>
              </a:defRPr>
            </a:pPr>
            <a:r>
              <a:rPr dirty="0"/>
              <a:t>Galleria </a:t>
            </a:r>
            <a:r>
              <a:rPr dirty="0" err="1"/>
              <a:t>fotografica</a:t>
            </a:r>
            <a:r>
              <a:rPr dirty="0"/>
              <a:t> con </a:t>
            </a:r>
            <a:r>
              <a:rPr dirty="0" err="1"/>
              <a:t>lightbox</a:t>
            </a:r>
            <a:r>
              <a:rPr dirty="0"/>
              <a:t> carousel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3295571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0ECE2"/>
                </a:solidFill>
                <a:latin typeface="Calibri"/>
              </a:defRPr>
            </a:pPr>
            <a:r>
              <a:t>40,00 €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661331"/>
            <a:ext cx="10698480" cy="3657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367961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998A"/>
                </a:solidFill>
                <a:latin typeface="Calibri"/>
              </a:defRPr>
            </a:pPr>
            <a:r>
              <a:t>Integrazione Google Maps e link di contatto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367961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0ECE2"/>
                </a:solidFill>
                <a:latin typeface="Calibri"/>
              </a:defRPr>
            </a:pPr>
            <a:r>
              <a:rPr dirty="0"/>
              <a:t>30,00 €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045379"/>
            <a:ext cx="10698480" cy="3657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063667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998A"/>
                </a:solidFill>
                <a:latin typeface="Calibri"/>
              </a:defRPr>
            </a:pPr>
            <a:r>
              <a:t>Conformità GDPR (cookie banner, privacy, cookie policy)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4063667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0ECE2"/>
                </a:solidFill>
                <a:latin typeface="Calibri"/>
              </a:defRPr>
            </a:pPr>
            <a:r>
              <a:t>60,00 €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429427"/>
            <a:ext cx="10698480" cy="3657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447715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998A"/>
                </a:solidFill>
                <a:latin typeface="Calibri"/>
              </a:defRPr>
            </a:pPr>
            <a:r>
              <a:t>Ottimizzazione SEO base e meta tag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4447715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0ECE2"/>
                </a:solidFill>
                <a:latin typeface="Calibri"/>
              </a:defRPr>
            </a:pPr>
            <a:r>
              <a:t>40,00 €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813475"/>
            <a:ext cx="10698480" cy="3657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4831763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998A"/>
                </a:solidFill>
                <a:latin typeface="Calibri"/>
              </a:defRPr>
            </a:pPr>
            <a:r>
              <a:t>Generazione favicon e icone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4831763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0ECE2"/>
                </a:solidFill>
                <a:latin typeface="Calibri"/>
              </a:defRPr>
            </a:pPr>
            <a:r>
              <a:t>10,00 €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197523"/>
            <a:ext cx="10698480" cy="3657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5215811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998A"/>
                </a:solidFill>
                <a:latin typeface="Calibri"/>
              </a:defRPr>
            </a:pPr>
            <a:r>
              <a:t>Pubblicazione online e configurazione hosting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5215811"/>
            <a:ext cx="2468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0ECE2"/>
                </a:solidFill>
                <a:latin typeface="Calibri"/>
              </a:defRPr>
            </a:pPr>
            <a:r>
              <a:rPr lang="it-IT" dirty="0" smtClean="0"/>
              <a:t>5</a:t>
            </a:r>
            <a:r>
              <a:rPr dirty="0" smtClean="0"/>
              <a:t>0,00 </a:t>
            </a:r>
            <a:r>
              <a:rPr dirty="0"/>
              <a:t>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673011"/>
            <a:ext cx="10698480" cy="5486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" y="5746163"/>
            <a:ext cx="7772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111"/>
                </a:solidFill>
                <a:latin typeface="Calibri"/>
              </a:defRPr>
            </a:pPr>
            <a:r>
              <a:rPr dirty="0"/>
              <a:t>TOTALE con </a:t>
            </a:r>
            <a:r>
              <a:rPr dirty="0" err="1"/>
              <a:t>sconto</a:t>
            </a:r>
            <a:r>
              <a:rPr dirty="0"/>
              <a:t> 35</a:t>
            </a:r>
            <a:r>
              <a:rPr dirty="0" smtClean="0"/>
              <a:t>%</a:t>
            </a:r>
            <a:endParaRPr dirty="0"/>
          </a:p>
        </p:txBody>
      </p:sp>
      <p:sp>
        <p:nvSpPr>
          <p:cNvPr id="41" name="TextBox 40"/>
          <p:cNvSpPr txBox="1"/>
          <p:nvPr/>
        </p:nvSpPr>
        <p:spPr>
          <a:xfrm>
            <a:off x="8961120" y="5746163"/>
            <a:ext cx="2468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11111"/>
                </a:solidFill>
                <a:latin typeface="Calibri"/>
              </a:defRPr>
            </a:pPr>
            <a:r>
              <a:rPr lang="it-IT" strike="sngStrike" dirty="0" smtClean="0"/>
              <a:t>730€</a:t>
            </a:r>
            <a:r>
              <a:rPr lang="it-IT" dirty="0" smtClean="0"/>
              <a:t> </a:t>
            </a:r>
            <a:r>
              <a:rPr dirty="0" smtClean="0"/>
              <a:t>4</a:t>
            </a:r>
            <a:r>
              <a:rPr lang="it-IT" dirty="0" smtClean="0"/>
              <a:t>74</a:t>
            </a:r>
            <a:r>
              <a:rPr dirty="0" smtClean="0"/>
              <a:t>,</a:t>
            </a:r>
            <a:r>
              <a:rPr lang="it-IT" dirty="0" smtClean="0"/>
              <a:t>5</a:t>
            </a:r>
            <a:r>
              <a:rPr dirty="0" smtClean="0"/>
              <a:t>0 </a:t>
            </a:r>
            <a:r>
              <a:rPr dirty="0"/>
              <a:t>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6404531"/>
            <a:ext cx="10698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CAF50"/>
                </a:solidFill>
                <a:latin typeface="Calibri"/>
              </a:defRPr>
            </a:pPr>
            <a:r>
              <a:rPr dirty="0" err="1"/>
              <a:t>Prezzo</a:t>
            </a:r>
            <a:r>
              <a:rPr dirty="0"/>
              <a:t> di </a:t>
            </a:r>
            <a:r>
              <a:rPr dirty="0" err="1"/>
              <a:t>listino</a:t>
            </a:r>
            <a:r>
              <a:rPr dirty="0"/>
              <a:t>: </a:t>
            </a:r>
            <a:r>
              <a:rPr dirty="0" smtClean="0"/>
              <a:t>7</a:t>
            </a:r>
            <a:r>
              <a:rPr lang="it-IT" dirty="0" smtClean="0"/>
              <a:t>3</a:t>
            </a:r>
            <a:r>
              <a:rPr dirty="0" smtClean="0"/>
              <a:t>0,00 </a:t>
            </a:r>
            <a:r>
              <a:rPr dirty="0"/>
              <a:t>€ — </a:t>
            </a:r>
            <a:r>
              <a:rPr dirty="0" err="1"/>
              <a:t>Sconto</a:t>
            </a:r>
            <a:r>
              <a:rPr dirty="0"/>
              <a:t> 35% </a:t>
            </a:r>
            <a:r>
              <a:rPr dirty="0" err="1"/>
              <a:t>applicato</a:t>
            </a:r>
            <a:r>
              <a:rPr dirty="0"/>
              <a:t> — </a:t>
            </a:r>
            <a:r>
              <a:rPr dirty="0" err="1"/>
              <a:t>Risparmio</a:t>
            </a:r>
            <a:r>
              <a:rPr dirty="0"/>
              <a:t> </a:t>
            </a:r>
            <a:r>
              <a:rPr dirty="0" err="1"/>
              <a:t>rispetto</a:t>
            </a:r>
            <a:r>
              <a:rPr dirty="0"/>
              <a:t> </a:t>
            </a:r>
            <a:r>
              <a:rPr dirty="0" err="1"/>
              <a:t>alla</a:t>
            </a:r>
            <a:r>
              <a:rPr dirty="0"/>
              <a:t> media di </a:t>
            </a:r>
            <a:r>
              <a:rPr dirty="0" err="1"/>
              <a:t>mercato</a:t>
            </a:r>
            <a:r>
              <a:rPr dirty="0"/>
              <a:t>: </a:t>
            </a:r>
            <a:r>
              <a:rPr dirty="0" err="1"/>
              <a:t>oltre</a:t>
            </a:r>
            <a:r>
              <a:rPr dirty="0"/>
              <a:t> </a:t>
            </a:r>
            <a:r>
              <a:rPr dirty="0" err="1"/>
              <a:t>il</a:t>
            </a:r>
            <a:r>
              <a:rPr dirty="0"/>
              <a:t> 65%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rPr dirty="0"/>
              <a:t>COSTI RICORRENTI E MODALITÀ DI PAGAMENTO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0ECE2"/>
                </a:solidFill>
                <a:latin typeface="Georgia"/>
              </a:defRPr>
            </a:pPr>
            <a:r>
              <a:t>Costi Ricorrenti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3200400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111"/>
                </a:solidFill>
                <a:latin typeface="Calibri"/>
              </a:defRPr>
            </a:pPr>
            <a:r>
              <a:t>Voce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920240"/>
            <a:ext cx="1371600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31920" y="1965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11111"/>
                </a:solidFill>
                <a:latin typeface="Calibri"/>
              </a:defRPr>
            </a:pPr>
            <a:r>
              <a:t>Costo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4572000" cy="38404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450592"/>
            <a:ext cx="30175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998A"/>
                </a:solidFill>
                <a:latin typeface="Calibri"/>
              </a:defRPr>
            </a:pPr>
            <a:r>
              <a:rPr dirty="0" err="1" smtClean="0"/>
              <a:t>Hostin</a:t>
            </a:r>
            <a:r>
              <a:rPr lang="it-IT" dirty="0" smtClean="0"/>
              <a:t>g (spazio web che ospitata il sito)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3931920" y="2450592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CAF50"/>
                </a:solidFill>
                <a:latin typeface="Calibri"/>
              </a:defRPr>
            </a:pPr>
            <a:r>
              <a:rPr lang="it-IT" dirty="0" smtClean="0">
                <a:solidFill>
                  <a:srgbClr val="00B050"/>
                </a:solidFill>
              </a:rPr>
              <a:t>50€</a:t>
            </a:r>
            <a:endParaRPr dirty="0">
              <a:solidFill>
                <a:srgbClr val="00B05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31520" y="2834640"/>
            <a:ext cx="4572000" cy="38404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862072"/>
            <a:ext cx="30175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A0998A"/>
                </a:solidFill>
                <a:latin typeface="Calibri"/>
              </a:defRPr>
            </a:pPr>
            <a:r>
              <a:rPr dirty="0" err="1"/>
              <a:t>Dominio</a:t>
            </a:r>
            <a:r>
              <a:rPr dirty="0"/>
              <a:t> .</a:t>
            </a:r>
            <a:r>
              <a:rPr dirty="0" smtClean="0"/>
              <a:t>it</a:t>
            </a:r>
            <a:r>
              <a:rPr lang="it-IT" dirty="0" smtClean="0"/>
              <a:t> </a:t>
            </a:r>
            <a:r>
              <a:rPr lang="it-IT" dirty="0"/>
              <a:t>(</a:t>
            </a:r>
            <a:r>
              <a:rPr lang="it-IT" dirty="0" smtClean="0"/>
              <a:t>www.giulianaelagreca.it)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3931920" y="2862072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A0998A"/>
                </a:solidFill>
                <a:latin typeface="Calibri"/>
              </a:defRPr>
            </a:pPr>
            <a:r>
              <a:rPr dirty="0" smtClean="0">
                <a:solidFill>
                  <a:srgbClr val="00B050"/>
                </a:solidFill>
              </a:rPr>
              <a:t>15 €/anno</a:t>
            </a:r>
            <a:endParaRPr dirty="0">
              <a:solidFill>
                <a:srgbClr val="00B05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31520" y="3246119"/>
            <a:ext cx="4572000" cy="574739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" y="3273552"/>
            <a:ext cx="328120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998A"/>
                </a:solidFill>
                <a:latin typeface="Calibri"/>
              </a:defRPr>
            </a:pPr>
            <a:r>
              <a:rPr dirty="0"/>
              <a:t>Manutenzione </a:t>
            </a:r>
            <a:r>
              <a:rPr dirty="0" err="1"/>
              <a:t>annuale</a:t>
            </a:r>
            <a:r>
              <a:rPr dirty="0"/>
              <a:t>, </a:t>
            </a:r>
            <a:r>
              <a:rPr dirty="0" err="1"/>
              <a:t>rinnovo</a:t>
            </a:r>
            <a:r>
              <a:rPr dirty="0"/>
              <a:t> </a:t>
            </a:r>
            <a:r>
              <a:rPr dirty="0" err="1"/>
              <a:t>certificato</a:t>
            </a:r>
            <a:r>
              <a:rPr dirty="0"/>
              <a:t> SSL e </a:t>
            </a:r>
            <a:r>
              <a:rPr dirty="0" smtClean="0"/>
              <a:t>aggiornamenti</a:t>
            </a:r>
            <a:r>
              <a:rPr lang="it-IT" dirty="0" smtClean="0"/>
              <a:t>/modifiche base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3931920" y="3273552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A0998A"/>
                </a:solidFill>
                <a:latin typeface="Calibri"/>
              </a:defRPr>
            </a:pPr>
            <a:r>
              <a:rPr lang="it-IT" dirty="0" smtClean="0"/>
              <a:t>8</a:t>
            </a:r>
            <a:r>
              <a:rPr dirty="0" smtClean="0"/>
              <a:t>0,00 </a:t>
            </a:r>
            <a:r>
              <a:rPr dirty="0"/>
              <a:t>€/anno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0ECE2"/>
                </a:solidFill>
                <a:latin typeface="Georgia"/>
              </a:defRPr>
            </a:pPr>
            <a:r>
              <a:t>Modalità di Pagamento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20240"/>
            <a:ext cx="5029200" cy="1837944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0" y="2462409"/>
            <a:ext cx="44805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 dirty="0">
                <a:solidFill>
                  <a:srgbClr val="C9A84C"/>
                </a:solidFill>
                <a:latin typeface="Calibri"/>
              </a:rPr>
              <a:t>◆  </a:t>
            </a:r>
            <a:r>
              <a:rPr sz="1500" dirty="0">
                <a:solidFill>
                  <a:srgbClr val="A0998A"/>
                </a:solidFill>
                <a:latin typeface="Calibri"/>
              </a:rPr>
              <a:t>50% </a:t>
            </a:r>
            <a:r>
              <a:rPr sz="1500" dirty="0" err="1">
                <a:solidFill>
                  <a:srgbClr val="A0998A"/>
                </a:solidFill>
                <a:latin typeface="Calibri"/>
              </a:rPr>
              <a:t>all'accettazione</a:t>
            </a:r>
            <a:r>
              <a:rPr sz="1500" dirty="0">
                <a:solidFill>
                  <a:srgbClr val="A0998A"/>
                </a:solidFill>
                <a:latin typeface="Calibri"/>
              </a:rPr>
              <a:t> del </a:t>
            </a:r>
            <a:r>
              <a:rPr sz="1500" dirty="0" err="1">
                <a:solidFill>
                  <a:srgbClr val="A0998A"/>
                </a:solidFill>
                <a:latin typeface="Calibri"/>
              </a:rPr>
              <a:t>preventivo</a:t>
            </a:r>
            <a:r>
              <a:rPr sz="1500" dirty="0">
                <a:solidFill>
                  <a:srgbClr val="A0998A"/>
                </a:solidFill>
                <a:latin typeface="Calibri"/>
              </a:rPr>
              <a:t> (</a:t>
            </a:r>
            <a:r>
              <a:rPr sz="1500" dirty="0" err="1">
                <a:solidFill>
                  <a:srgbClr val="A0998A"/>
                </a:solidFill>
                <a:latin typeface="Calibri"/>
              </a:rPr>
              <a:t>acconto</a:t>
            </a:r>
            <a:r>
              <a:rPr sz="1500" dirty="0">
                <a:solidFill>
                  <a:srgbClr val="A0998A"/>
                </a:solidFill>
                <a:latin typeface="Calibri"/>
              </a:rPr>
              <a:t>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100" dirty="0">
                <a:solidFill>
                  <a:srgbClr val="C9A84C"/>
                </a:solidFill>
                <a:latin typeface="Calibri"/>
              </a:rPr>
              <a:t>◆  </a:t>
            </a:r>
            <a:r>
              <a:rPr sz="1500" dirty="0">
                <a:solidFill>
                  <a:srgbClr val="A0998A"/>
                </a:solidFill>
                <a:latin typeface="Calibri"/>
              </a:rPr>
              <a:t>50% </a:t>
            </a:r>
            <a:r>
              <a:rPr sz="1500" dirty="0" err="1">
                <a:solidFill>
                  <a:srgbClr val="A0998A"/>
                </a:solidFill>
                <a:latin typeface="Calibri"/>
              </a:rPr>
              <a:t>alla</a:t>
            </a:r>
            <a:r>
              <a:rPr sz="1500" dirty="0">
                <a:solidFill>
                  <a:srgbClr val="A0998A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A0998A"/>
                </a:solidFill>
                <a:latin typeface="Calibri"/>
              </a:rPr>
              <a:t>consegna</a:t>
            </a:r>
            <a:r>
              <a:rPr sz="1500" dirty="0">
                <a:solidFill>
                  <a:srgbClr val="A0998A"/>
                </a:solidFill>
                <a:latin typeface="Calibri"/>
              </a:rPr>
              <a:t> e </a:t>
            </a:r>
            <a:r>
              <a:rPr sz="1500" dirty="0" err="1">
                <a:solidFill>
                  <a:srgbClr val="A0998A"/>
                </a:solidFill>
                <a:latin typeface="Calibri"/>
              </a:rPr>
              <a:t>pubblicazione</a:t>
            </a:r>
            <a:r>
              <a:rPr sz="1500" dirty="0">
                <a:solidFill>
                  <a:srgbClr val="A0998A"/>
                </a:solidFill>
                <a:latin typeface="Calibri"/>
              </a:rPr>
              <a:t> del </a:t>
            </a:r>
            <a:r>
              <a:rPr sz="1500" dirty="0" err="1" smtClean="0">
                <a:solidFill>
                  <a:srgbClr val="A0998A"/>
                </a:solidFill>
                <a:latin typeface="Calibri"/>
              </a:rPr>
              <a:t>sito</a:t>
            </a:r>
            <a:endParaRPr sz="1500" dirty="0">
              <a:solidFill>
                <a:srgbClr val="A0998A"/>
              </a:solidFill>
              <a:latin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371600" y="4297680"/>
            <a:ext cx="9448495" cy="201168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28800" y="438912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9A84C"/>
                </a:solidFill>
                <a:latin typeface="Calibri"/>
              </a:defRPr>
            </a:pPr>
            <a:r>
              <a:t>OFFERTA SPECIALE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799" y="4654296"/>
            <a:ext cx="853409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0ECE2"/>
                </a:solidFill>
                <a:latin typeface="Georgia"/>
              </a:defRPr>
            </a:pPr>
            <a:r>
              <a:rPr sz="2800" strike="sngStrike" dirty="0" smtClean="0">
                <a:solidFill>
                  <a:srgbClr val="A0998A"/>
                </a:solidFill>
              </a:rPr>
              <a:t>4</a:t>
            </a:r>
            <a:r>
              <a:rPr lang="it-IT" sz="2800" strike="sngStrike" dirty="0" smtClean="0">
                <a:solidFill>
                  <a:srgbClr val="A0998A"/>
                </a:solidFill>
              </a:rPr>
              <a:t>74</a:t>
            </a:r>
            <a:r>
              <a:rPr sz="2800" strike="sngStrike" dirty="0" smtClean="0">
                <a:solidFill>
                  <a:srgbClr val="A0998A"/>
                </a:solidFill>
              </a:rPr>
              <a:t>,</a:t>
            </a:r>
            <a:r>
              <a:rPr lang="it-IT" sz="2800" strike="sngStrike" dirty="0" smtClean="0">
                <a:solidFill>
                  <a:srgbClr val="A0998A"/>
                </a:solidFill>
              </a:rPr>
              <a:t>5</a:t>
            </a:r>
            <a:r>
              <a:rPr sz="2800" strike="sngStrike" dirty="0" smtClean="0">
                <a:solidFill>
                  <a:srgbClr val="A0998A"/>
                </a:solidFill>
              </a:rPr>
              <a:t>0 </a:t>
            </a:r>
            <a:r>
              <a:rPr sz="2800" strike="sngStrike" dirty="0">
                <a:solidFill>
                  <a:srgbClr val="A0998A"/>
                </a:solidFill>
              </a:rPr>
              <a:t>€</a:t>
            </a:r>
          </a:p>
          <a:p>
            <a:pPr algn="ctr">
              <a:defRPr sz="4800" b="1">
                <a:solidFill>
                  <a:srgbClr val="F0ECE2"/>
                </a:solidFill>
                <a:latin typeface="Georgia"/>
              </a:defRPr>
            </a:pPr>
            <a:r>
              <a:rPr sz="4400" b="1" dirty="0" smtClean="0">
                <a:solidFill>
                  <a:srgbClr val="C9A84C"/>
                </a:solidFill>
              </a:rPr>
              <a:t>3</a:t>
            </a:r>
            <a:r>
              <a:rPr lang="it-IT" sz="4400" b="1" dirty="0" smtClean="0">
                <a:solidFill>
                  <a:srgbClr val="C9A84C"/>
                </a:solidFill>
              </a:rPr>
              <a:t>30</a:t>
            </a:r>
            <a:r>
              <a:rPr sz="4400" b="1" dirty="0" smtClean="0">
                <a:solidFill>
                  <a:srgbClr val="C9A84C"/>
                </a:solidFill>
              </a:rPr>
              <a:t>,00 </a:t>
            </a:r>
            <a:r>
              <a:rPr sz="4400" b="1" dirty="0">
                <a:solidFill>
                  <a:srgbClr val="C9A84C"/>
                </a:solidFill>
              </a:rPr>
              <a:t>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32532" y="5806440"/>
            <a:ext cx="85340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998A"/>
                </a:solidFill>
                <a:latin typeface="Calibri"/>
              </a:defRPr>
            </a:pPr>
            <a:r>
              <a:rPr dirty="0" smtClean="0"/>
              <a:t>Hosting •  </a:t>
            </a:r>
            <a:r>
              <a:rPr dirty="0" err="1"/>
              <a:t>Canone</a:t>
            </a:r>
            <a:r>
              <a:rPr dirty="0"/>
              <a:t> </a:t>
            </a:r>
            <a:r>
              <a:rPr dirty="0" err="1"/>
              <a:t>annuale</a:t>
            </a:r>
            <a:r>
              <a:rPr dirty="0"/>
              <a:t> </a:t>
            </a:r>
            <a:r>
              <a:rPr lang="it-IT" dirty="0" smtClean="0"/>
              <a:t>8</a:t>
            </a:r>
            <a:r>
              <a:rPr dirty="0" smtClean="0"/>
              <a:t>0 </a:t>
            </a:r>
            <a:r>
              <a:rPr dirty="0"/>
              <a:t>€  •  </a:t>
            </a:r>
            <a:r>
              <a:rPr dirty="0" err="1"/>
              <a:t>Sconto</a:t>
            </a:r>
            <a:r>
              <a:rPr dirty="0"/>
              <a:t> 35% + </a:t>
            </a:r>
            <a:r>
              <a:rPr dirty="0" err="1"/>
              <a:t>ulteriore</a:t>
            </a:r>
            <a:r>
              <a:rPr dirty="0"/>
              <a:t> 30% </a:t>
            </a:r>
            <a:r>
              <a:rPr dirty="0" err="1"/>
              <a:t>applicati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0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A84C"/>
                </a:solidFill>
                <a:latin typeface="Calibri"/>
              </a:rPr>
              <a:t>AGGIORNAMENTI EFFETTUATI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5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998A"/>
                </a:solidFill>
                <a:latin typeface="Calibri"/>
              </a:rPr>
              <a:t>Modifiche e miglioramenti implementati sul sito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0000"/>
            <a:ext cx="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A84C"/>
                </a:solidFill>
                <a:latin typeface="Calibri"/>
              </a:rPr>
              <a:t>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520" y="1500000"/>
            <a:ext cx="4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ECE2"/>
                </a:solidFill>
                <a:latin typeface="Calibri"/>
              </a:rPr>
              <a:t>Servizi Aggiornati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520" y="1780000"/>
            <a:ext cx="4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998A"/>
                </a:solidFill>
                <a:latin typeface="Calibri"/>
              </a:rPr>
              <a:t>Rimosso "Addobbi Floreali", aggiunto
"Lavorazione Fotoceramica". Servizio
cremazione ora include anche animali.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0000"/>
            <a:ext cx="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A84C"/>
                </a:solidFill>
                <a:latin typeface="Calibri"/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520" y="3100000"/>
            <a:ext cx="4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ECE2"/>
                </a:solidFill>
                <a:latin typeface="Calibri"/>
              </a:rPr>
              <a:t>Sezione Recensioni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520" y="3380000"/>
            <a:ext cx="4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998A"/>
                </a:solidFill>
                <a:latin typeface="Calibri"/>
              </a:rPr>
              <a:t>Nuova sezione "Cosa Dicono di Noi"
con 3 recensioni e valutazione 5 stelle.
Posizionata tra Galleria e Perche Sceglierci.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00000"/>
            <a:ext cx="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A84C"/>
                </a:solidFill>
                <a:latin typeface="Calibri"/>
              </a:rP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520" y="4700000"/>
            <a:ext cx="4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ECE2"/>
                </a:solidFill>
                <a:latin typeface="Calibri"/>
              </a:rPr>
              <a:t>Pulsante Contattaci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1520" y="4980000"/>
            <a:ext cx="4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998A"/>
                </a:solidFill>
                <a:latin typeface="Calibri"/>
              </a:rPr>
              <a:t>Il pulsante hero ora chiama direttamente
il numero 333 963 8330 con icona telefono.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1500000"/>
            <a:ext cx="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A84C"/>
                </a:solidFill>
                <a:latin typeface="Calibri"/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0000" y="1500000"/>
            <a:ext cx="4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ECE2"/>
                </a:solidFill>
                <a:latin typeface="Calibri"/>
              </a:rPr>
              <a:t>Logo Trasparente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0000" y="1780000"/>
            <a:ext cx="4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998A"/>
                </a:solidFill>
                <a:latin typeface="Calibri"/>
              </a:rPr>
              <a:t>Sostituito logo.png con versione senza
sfondo per migliore integrazione col
tema scuro. Favicon rigenerata.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0000" y="3100000"/>
            <a:ext cx="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A84C"/>
                </a:solidFill>
                <a:latin typeface="Calibri"/>
              </a:rPr>
              <a:t>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0000" y="3100000"/>
            <a:ext cx="4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ECE2"/>
                </a:solidFill>
                <a:latin typeface="Calibri"/>
              </a:rPr>
              <a:t>Ottimizzazione SEO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0000" y="3380000"/>
            <a:ext cx="4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998A"/>
                </a:solidFill>
                <a:latin typeface="Calibri"/>
              </a:rPr>
              <a:t>Title e meta description mirati per
"onoranze funebri campobello di licata".
URL canonico e Open Graph completi.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0000" y="4700000"/>
            <a:ext cx="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A84C"/>
                </a:solidFill>
                <a:latin typeface="Calibri"/>
              </a:rPr>
              <a:t>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0000" y="4700000"/>
            <a:ext cx="4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ECE2"/>
                </a:solidFill>
                <a:latin typeface="Calibri"/>
              </a:rPr>
              <a:t>Schema.org + Sitemap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0000" y="4980000"/>
            <a:ext cx="4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998A"/>
                </a:solidFill>
                <a:latin typeface="Calibri"/>
              </a:rPr>
              <a:t>Dati strutturati FuneralHome con indirizzo,
telefoni, orari 24/7 e servizi. Sitemap XML
e robots.txt per i motori di ricerca.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0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A84C"/>
                </a:solidFill>
                <a:latin typeface="Calibri"/>
              </a:rPr>
              <a:t>PROSSIMI PASSI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5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998A"/>
                </a:solidFill>
                <a:latin typeface="Calibri"/>
              </a:rPr>
              <a:t>Azioni consigliate per massimizzare la visibilita online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00000"/>
            <a:ext cx="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1" dirty="0">
                <a:solidFill>
                  <a:srgbClr val="C9A84C"/>
                </a:solidFill>
                <a:latin typeface="Calibri"/>
              </a:rPr>
              <a:t>1</a:t>
            </a:r>
            <a:endParaRPr sz="2000" b="1" dirty="0">
              <a:solidFill>
                <a:srgbClr val="C9A84C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00000" y="1400000"/>
            <a:ext cx="5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ECE2"/>
                </a:solidFill>
                <a:latin typeface="Calibri"/>
              </a:rPr>
              <a:t>Google Business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00000" y="1430000"/>
            <a:ext cx="2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EC970"/>
                </a:solidFill>
                <a:latin typeface="Calibri"/>
              </a:rPr>
              <a:t>PRIORITA ALTA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0000" y="1750000"/>
            <a:ext cx="95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998A"/>
                </a:solidFill>
                <a:latin typeface="Calibri"/>
              </a:rPr>
              <a:t>Creare la scheda su business.google.com con indirizzo, telefoni,
orari, foto e categoria "Agenzia di onoranze funebri". Questo e il
fattore piu importante per comparire su Google Maps e nelle
ricerche locali "onoranze funebri campobello".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0000"/>
            <a:ext cx="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 smtClean="0">
                <a:solidFill>
                  <a:srgbClr val="C9A84C"/>
                </a:solidFill>
                <a:latin typeface="Calibri"/>
              </a:rPr>
              <a:t>2</a:t>
            </a:r>
            <a:endParaRPr sz="2000" b="1" dirty="0">
              <a:solidFill>
                <a:srgbClr val="C9A84C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00000" y="2650000"/>
            <a:ext cx="5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ECE2"/>
                </a:solidFill>
                <a:latin typeface="Calibri"/>
              </a:rPr>
              <a:t>Google Search Console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0000" y="2680000"/>
            <a:ext cx="2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EC970"/>
                </a:solidFill>
                <a:latin typeface="Calibri"/>
              </a:rPr>
              <a:t>PRIORITA ALTA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0000" y="3000000"/>
            <a:ext cx="95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998A"/>
                </a:solidFill>
                <a:latin typeface="Calibri"/>
              </a:rPr>
              <a:t>Registrare il sito su search.google.com/search-console.
Verificare la proprieta e inviare la sitemap.xml per accelerare
l'indicizzazione di tutte le pagine del sito.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00000"/>
            <a:ext cx="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 smtClean="0">
                <a:solidFill>
                  <a:srgbClr val="C9A84C"/>
                </a:solidFill>
                <a:latin typeface="Calibri"/>
              </a:rPr>
              <a:t>3</a:t>
            </a:r>
            <a:endParaRPr sz="2000" b="1" dirty="0">
              <a:solidFill>
                <a:srgbClr val="C9A84C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00000" y="3900000"/>
            <a:ext cx="5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ECE2"/>
                </a:solidFill>
                <a:latin typeface="Calibri"/>
              </a:rPr>
              <a:t>Recensioni Google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0000" y="3930000"/>
            <a:ext cx="2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9A84C"/>
                </a:solidFill>
                <a:latin typeface="Calibri"/>
              </a:rPr>
              <a:t>PRIORITA MEDIA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0000" y="4250000"/>
            <a:ext cx="95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998A"/>
                </a:solidFill>
                <a:latin typeface="Calibri"/>
              </a:rPr>
              <a:t>Chiedere ai clienti soddisfatti di lasciare una recensione sulla
scheda Google Business. Le recensioni sono il fattore principale
per il posizionamento nelle ricerche locali.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50000"/>
            <a:ext cx="4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 smtClean="0">
                <a:solidFill>
                  <a:srgbClr val="C9A84C"/>
                </a:solidFill>
                <a:latin typeface="Calibri"/>
              </a:rPr>
              <a:t>4</a:t>
            </a:r>
            <a:endParaRPr sz="2000" b="1" dirty="0">
              <a:solidFill>
                <a:srgbClr val="C9A84C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00000" y="5150000"/>
            <a:ext cx="5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ECE2"/>
                </a:solidFill>
                <a:latin typeface="Calibri"/>
              </a:rPr>
              <a:t>Dominio Personalizzato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0000" y="5180000"/>
            <a:ext cx="2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9A84C"/>
                </a:solidFill>
                <a:latin typeface="Calibri"/>
              </a:rPr>
              <a:t>CONSIGLIATO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0000" y="5500000"/>
            <a:ext cx="95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998A"/>
                </a:solidFill>
                <a:latin typeface="Calibri"/>
              </a:rPr>
              <a:t>Collegare un dominio .it dedicato (es. giulianaelagreca.it)
al sito. Un dominio proprio migliora la credibilita e il
posizionamento SEO rispetto a github.io.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9A84C"/>
                </a:solidFill>
                <a:latin typeface="Calibri"/>
              </a:defRPr>
            </a:pPr>
            <a:r>
              <a:rPr dirty="0"/>
              <a:t>GRAZIE PER L'ATTENZIONE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ECE2"/>
                </a:solidFill>
                <a:latin typeface="Georgia"/>
              </a:defRPr>
            </a:pPr>
            <a:r>
              <a:rPr lang="it-IT" dirty="0" smtClean="0"/>
              <a:t>Realizzazione in 1 settimana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5029200" y="3200400"/>
            <a:ext cx="21332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0ECE2"/>
                </a:solidFill>
                <a:latin typeface="Georgia"/>
              </a:defRPr>
            </a:pPr>
            <a:r>
              <a:rPr dirty="0"/>
              <a:t>Enrico Maria Caruso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998A"/>
                </a:solidFill>
                <a:latin typeface="Calibri"/>
              </a:defRPr>
            </a:pPr>
            <a:r>
              <a:rPr dirty="0"/>
              <a:t>Full Stack Developer &amp; Web Designer Freelance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9A84C"/>
                </a:solidFill>
                <a:latin typeface="Calibri"/>
              </a:defRPr>
            </a:pPr>
            <a:r>
              <a:rPr dirty="0"/>
              <a:t>◆  www.enricomariacaruso.it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66560"/>
            <a:ext cx="12191695" cy="50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952</Words>
  <Application>Microsoft Office PowerPoint</Application>
  <PresentationFormat>Widescreen</PresentationFormat>
  <Paragraphs>225</Paragraphs>
  <Slides>13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subject/>
  <dc:creator/>
  <cp:keywords/>
  <dc:description>generated using python-pptx</dc:description>
  <cp:lastModifiedBy>EnRiX</cp:lastModifiedBy>
  <cp:revision>28</cp:revision>
  <dcterms:created xsi:type="dcterms:W3CDTF">2013-01-27T09:14:16Z</dcterms:created>
  <dcterms:modified xsi:type="dcterms:W3CDTF">2026-03-17T08:13:17Z</dcterms:modified>
  <cp:category/>
</cp:coreProperties>
</file>